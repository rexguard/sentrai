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Ishmail: do not read the slide. Go straight into the hook on slide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Ishmail, about 15 seconds: "In December 2020, a Singapore tuition platform's own security test found a hole in its website. Nobody fixed it. Two months later, 4,625 students' details were for sale on the dark web, and the company only found out when the regulator told them." The point: the alert existed.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Ishmail: "They already get alerts. The breach happens because nobody acts on them in time." PDPA figure: up to S$1M, or 10% of Singapore turnover if it exceeds S$10M, whichever is higher (s48J, since 1 Oct 2022).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Ishmail: stress "your own tolerance line" and "temporary". Humans stay in charge.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Hozen: be honest. We prove delivery and acknowledgement, not that someone read it. The report says "Ack: none", not "they saw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Erick: executives read 0 to 100 instantly. The curve means stacking incidents can never push it past 100. Severity examples: brute force 30, SQL injection 40, shell spawned 60, bulk data dump 70.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Erick: the slope between hour 0 and 6 is entirely caused by inaction. That is the accountability story in one picture. Brute force 30 × 0.94 × 1.5 = 42.3 points; SQL injection ≈ 54. Replace with the values from the recorded take if they differ.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Erick: say if the attack is a replay and if Jev is in fallback mode. Judges respect honesty more than polish. Replace the gauge with a screenshot of the dashboard at the moment the gauge crosses 80.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Ishmail: this is for leadership, not to punish. It shows where the process failed so it can be fixed. It is fact-based: delivered, acknowledged or not, and what the system did. Use the real report from the Reports page for the screenshot if time allows.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Hozen: the attacker is stopped by attribution and prosecution, not retaliation. There is no self-defence exception in the Computer Misuse Act.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Erick: in the MVP the agents are Python classes in one core service, called in turn; separate services are on the roadmap. No agent has a free shell: only allowlisted playbooks with a TTL. AI judges and explains. Deterministic code scores and executes.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Ishmail closes: "Alerts tell you something is wrong. SentrAI makes sure someone answers, and proves it when they don't."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Leave on screen at the end or skip in the video.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14"/>
        </a:solidFill>
        <a:effectLst/>
      </p:bgPr>
    </p:bg>
    <p:spTree>
      <p:nvGrpSpPr>
        <p:cNvPr id="1" name=""/>
        <p:cNvGrpSpPr/>
        <p:nvPr/>
      </p:nvGrpSpPr>
      <p:grpSpPr/>
      <p:pic>
        <p:nvPicPr>
          <p:cNvPr id="2" name="Picture 1" descr="logo.png"/>
          <p:cNvPicPr>
            <a:picLocks noChangeAspect="1"/>
          </p:cNvPicPr>
          <p:nvPr/>
        </p:nvPicPr>
        <p:blipFill>
          <a:blip r:embed="rId3"/>
          <a:stretch>
            <a:fillRect/>
          </a:stretch>
        </p:blipFill>
        <p:spPr>
          <a:xfrm>
            <a:off x="8138160" y="1097280"/>
            <a:ext cx="3657600" cy="4206240"/>
          </a:xfrm>
          <a:prstGeom prst="rect">
            <a:avLst/>
          </a:prstGeom>
        </p:spPr>
      </p:pic>
      <p:sp>
        <p:nvSpPr>
          <p:cNvPr id="3" name="TextBox 2"/>
          <p:cNvSpPr txBox="1"/>
          <p:nvPr/>
        </p:nvSpPr>
        <p:spPr>
          <a:xfrm>
            <a:off x="640080" y="1828800"/>
            <a:ext cx="7315200" cy="1097280"/>
          </a:xfrm>
          <a:prstGeom prst="rect">
            <a:avLst/>
          </a:prstGeom>
          <a:noFill/>
        </p:spPr>
        <p:txBody>
          <a:bodyPr wrap="square" anchor="t" lIns="45720" rIns="45720" tIns="18288" bIns="18288">
            <a:spAutoFit/>
          </a:bodyPr>
          <a:lstStyle/>
          <a:p>
            <a:pPr algn="l">
              <a:lnSpc>
                <a:spcPct val="110000"/>
              </a:lnSpc>
            </a:pPr>
            <a:r>
              <a:rPr sz="7200" b="1">
                <a:solidFill>
                  <a:srgbClr val="F2F5F3"/>
                </a:solidFill>
                <a:latin typeface="Segoe UI"/>
              </a:rPr>
              <a:t>SentrAI</a:t>
            </a:r>
          </a:p>
        </p:txBody>
      </p:sp>
      <p:sp>
        <p:nvSpPr>
          <p:cNvPr id="4" name="TextBox 3"/>
          <p:cNvSpPr txBox="1"/>
          <p:nvPr/>
        </p:nvSpPr>
        <p:spPr>
          <a:xfrm>
            <a:off x="640080" y="2971800"/>
            <a:ext cx="7132320" cy="1097280"/>
          </a:xfrm>
          <a:prstGeom prst="rect">
            <a:avLst/>
          </a:prstGeom>
          <a:noFill/>
        </p:spPr>
        <p:txBody>
          <a:bodyPr wrap="square" anchor="t" lIns="45720" rIns="45720" tIns="18288" bIns="18288">
            <a:spAutoFit/>
          </a:bodyPr>
          <a:lstStyle/>
          <a:p>
            <a:pPr algn="l">
              <a:lnSpc>
                <a:spcPct val="110000"/>
              </a:lnSpc>
            </a:pPr>
            <a:r>
              <a:rPr sz="2600" b="1">
                <a:solidFill>
                  <a:srgbClr val="3FAE6A"/>
                </a:solidFill>
                <a:latin typeface="Segoe UI"/>
              </a:rPr>
              <a:t>Accountability-based security for small teams</a:t>
            </a:r>
          </a:p>
        </p:txBody>
      </p:sp>
      <p:sp>
        <p:nvSpPr>
          <p:cNvPr id="5" name="TextBox 4"/>
          <p:cNvSpPr txBox="1"/>
          <p:nvPr/>
        </p:nvSpPr>
        <p:spPr>
          <a:xfrm>
            <a:off x="640080" y="4206240"/>
            <a:ext cx="7132320" cy="914400"/>
          </a:xfrm>
          <a:prstGeom prst="rect">
            <a:avLst/>
          </a:prstGeom>
          <a:noFill/>
        </p:spPr>
        <p:txBody>
          <a:bodyPr wrap="square" anchor="t" lIns="45720" rIns="45720" tIns="18288" bIns="18288">
            <a:spAutoFit/>
          </a:bodyPr>
          <a:lstStyle/>
          <a:p>
            <a:pPr algn="l">
              <a:lnSpc>
                <a:spcPct val="110000"/>
              </a:lnSpc>
            </a:pPr>
            <a:r>
              <a:rPr sz="2000" b="0">
                <a:solidFill>
                  <a:srgbClr val="A9BBAF"/>
                </a:solidFill>
                <a:latin typeface="Segoe UI"/>
              </a:rPr>
              <a:t>A sentry doesn't chase you. It just guards the gate.</a:t>
            </a:r>
          </a:p>
        </p:txBody>
      </p:sp>
      <p:sp>
        <p:nvSpPr>
          <p:cNvPr id="6" name="TextBox 5"/>
          <p:cNvSpPr txBox="1"/>
          <p:nvPr/>
        </p:nvSpPr>
        <p:spPr>
          <a:xfrm>
            <a:off x="640080" y="5669280"/>
            <a:ext cx="10058400" cy="457200"/>
          </a:xfrm>
          <a:prstGeom prst="rect">
            <a:avLst/>
          </a:prstGeom>
          <a:noFill/>
        </p:spPr>
        <p:txBody>
          <a:bodyPr wrap="square" anchor="t" lIns="45720" rIns="45720" tIns="18288" bIns="18288">
            <a:spAutoFit/>
          </a:bodyPr>
          <a:lstStyle/>
          <a:p>
            <a:pPr algn="l">
              <a:lnSpc>
                <a:spcPct val="110000"/>
              </a:lnSpc>
            </a:pPr>
            <a:r>
              <a:rPr sz="1400" b="0">
                <a:solidFill>
                  <a:srgbClr val="A9BBAF"/>
                </a:solidFill>
                <a:latin typeface="Segoe UI"/>
              </a:rPr>
              <a:t>Cybersecurity + AI  ·  AI For Impact Hackathon 2026  ·  Erick Sientaro · Ishmail · Hozen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B14"/>
        </a:solidFill>
        <a:effectLst/>
      </p:bgPr>
    </p:bg>
    <p:spTree>
      <p:nvGrpSpPr>
        <p:cNvPr id="1" name=""/>
        <p:cNvGrpSpPr/>
        <p:nvPr/>
      </p:nvGrpSpPr>
      <p:grpSpPr/>
      <p:sp>
        <p:nvSpPr>
          <p:cNvPr id="2" name="TextBox 1"/>
          <p:cNvSpPr txBox="1"/>
          <p:nvPr/>
        </p:nvSpPr>
        <p:spPr>
          <a:xfrm>
            <a:off x="640080" y="411480"/>
            <a:ext cx="10058400" cy="365760"/>
          </a:xfrm>
          <a:prstGeom prst="rect">
            <a:avLst/>
          </a:prstGeom>
          <a:noFill/>
        </p:spPr>
        <p:txBody>
          <a:bodyPr wrap="square" anchor="t" lIns="45720" rIns="45720" tIns="18288" bIns="18288">
            <a:spAutoFit/>
          </a:bodyPr>
          <a:lstStyle/>
          <a:p>
            <a:pPr algn="l">
              <a:lnSpc>
                <a:spcPct val="110000"/>
              </a:lnSpc>
            </a:pPr>
            <a:r>
              <a:rPr sz="1300" b="1">
                <a:solidFill>
                  <a:srgbClr val="3FAE6A"/>
                </a:solidFill>
                <a:latin typeface="Segoe UI"/>
              </a:rPr>
              <a:t>A REAL PDPC CASE</a:t>
            </a:r>
          </a:p>
        </p:txBody>
      </p:sp>
      <p:sp>
        <p:nvSpPr>
          <p:cNvPr id="3" name="TextBox 2"/>
          <p:cNvSpPr txBox="1"/>
          <p:nvPr/>
        </p:nvSpPr>
        <p:spPr>
          <a:xfrm>
            <a:off x="640080" y="731520"/>
            <a:ext cx="10881360" cy="822960"/>
          </a:xfrm>
          <a:prstGeom prst="rect">
            <a:avLst/>
          </a:prstGeom>
          <a:noFill/>
        </p:spPr>
        <p:txBody>
          <a:bodyPr wrap="square" anchor="t" lIns="45720" rIns="45720" tIns="18288" bIns="18288">
            <a:spAutoFit/>
          </a:bodyPr>
          <a:lstStyle/>
          <a:p>
            <a:pPr algn="l">
              <a:lnSpc>
                <a:spcPct val="110000"/>
              </a:lnSpc>
            </a:pPr>
            <a:r>
              <a:rPr sz="3400" b="1">
                <a:solidFill>
                  <a:srgbClr val="F2F5F3"/>
                </a:solidFill>
                <a:latin typeface="Segoe UI"/>
              </a:rPr>
              <a:t>The breach that was warned about</a:t>
            </a:r>
          </a:p>
        </p:txBody>
      </p:sp>
      <p:sp>
        <p:nvSpPr>
          <p:cNvPr id="4" name="Rounded Rectangle 3"/>
          <p:cNvSpPr/>
          <p:nvPr/>
        </p:nvSpPr>
        <p:spPr>
          <a:xfrm>
            <a:off x="640080" y="1920240"/>
            <a:ext cx="2560320" cy="2286000"/>
          </a:xfrm>
          <a:prstGeom prst="roundRect">
            <a:avLst>
              <a:gd name="adj" fmla="val 6000"/>
            </a:avLst>
          </a:prstGeom>
          <a:solidFill>
            <a:srgbClr val="182A1F"/>
          </a:solidFill>
          <a:ln w="15875">
            <a:solidFill>
              <a:srgbClr val="2C44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194560"/>
            <a:ext cx="2103120" cy="731520"/>
          </a:xfrm>
          <a:prstGeom prst="rect">
            <a:avLst/>
          </a:prstGeom>
          <a:noFill/>
        </p:spPr>
        <p:txBody>
          <a:bodyPr wrap="square" anchor="t" lIns="45720" rIns="45720" tIns="18288" bIns="18288">
            <a:spAutoFit/>
          </a:bodyPr>
          <a:lstStyle/>
          <a:p>
            <a:pPr algn="l">
              <a:lnSpc>
                <a:spcPct val="110000"/>
              </a:lnSpc>
            </a:pPr>
            <a:r>
              <a:rPr sz="2800" b="1">
                <a:solidFill>
                  <a:srgbClr val="A9BBAF"/>
                </a:solidFill>
                <a:latin typeface="Segoe UI"/>
              </a:rPr>
              <a:t>Dec 2020</a:t>
            </a:r>
          </a:p>
        </p:txBody>
      </p:sp>
      <p:sp>
        <p:nvSpPr>
          <p:cNvPr id="6" name="TextBox 5"/>
          <p:cNvSpPr txBox="1"/>
          <p:nvPr/>
        </p:nvSpPr>
        <p:spPr>
          <a:xfrm>
            <a:off x="868680" y="2880360"/>
            <a:ext cx="2103120" cy="1188720"/>
          </a:xfrm>
          <a:prstGeom prst="rect">
            <a:avLst/>
          </a:prstGeom>
          <a:noFill/>
        </p:spPr>
        <p:txBody>
          <a:bodyPr wrap="square" anchor="t" lIns="45720" rIns="45720" tIns="18288" bIns="18288">
            <a:spAutoFit/>
          </a:bodyPr>
          <a:lstStyle/>
          <a:p>
            <a:pPr algn="l">
              <a:lnSpc>
                <a:spcPct val="110000"/>
              </a:lnSpc>
            </a:pPr>
            <a:r>
              <a:rPr sz="1600" b="0">
                <a:solidFill>
                  <a:srgbClr val="F2F5F3"/>
                </a:solidFill>
                <a:latin typeface="Segoe UI"/>
              </a:rPr>
              <a:t>Pentest finds an SQL injection hole</a:t>
            </a:r>
          </a:p>
        </p:txBody>
      </p:sp>
      <p:sp>
        <p:nvSpPr>
          <p:cNvPr id="7" name="Rounded Rectangle 6"/>
          <p:cNvSpPr/>
          <p:nvPr/>
        </p:nvSpPr>
        <p:spPr>
          <a:xfrm>
            <a:off x="3410712" y="1920240"/>
            <a:ext cx="2560320" cy="2286000"/>
          </a:xfrm>
          <a:prstGeom prst="roundRect">
            <a:avLst>
              <a:gd name="adj" fmla="val 6000"/>
            </a:avLst>
          </a:prstGeom>
          <a:solidFill>
            <a:srgbClr val="182A1F"/>
          </a:solidFill>
          <a:ln w="15875">
            <a:solidFill>
              <a:srgbClr val="2C44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39312" y="2194560"/>
            <a:ext cx="2103120" cy="731520"/>
          </a:xfrm>
          <a:prstGeom prst="rect">
            <a:avLst/>
          </a:prstGeom>
          <a:noFill/>
        </p:spPr>
        <p:txBody>
          <a:bodyPr wrap="square" anchor="t" lIns="45720" rIns="45720" tIns="18288" bIns="18288">
            <a:spAutoFit/>
          </a:bodyPr>
          <a:lstStyle/>
          <a:p>
            <a:pPr algn="l">
              <a:lnSpc>
                <a:spcPct val="110000"/>
              </a:lnSpc>
            </a:pPr>
            <a:r>
              <a:rPr sz="2800" b="1">
                <a:solidFill>
                  <a:srgbClr val="F2C14E"/>
                </a:solidFill>
                <a:latin typeface="Segoe UI"/>
              </a:rPr>
              <a:t>Unfixed</a:t>
            </a:r>
          </a:p>
        </p:txBody>
      </p:sp>
      <p:sp>
        <p:nvSpPr>
          <p:cNvPr id="9" name="TextBox 8"/>
          <p:cNvSpPr txBox="1"/>
          <p:nvPr/>
        </p:nvSpPr>
        <p:spPr>
          <a:xfrm>
            <a:off x="3639312" y="2880360"/>
            <a:ext cx="2103120" cy="1188720"/>
          </a:xfrm>
          <a:prstGeom prst="rect">
            <a:avLst/>
          </a:prstGeom>
          <a:noFill/>
        </p:spPr>
        <p:txBody>
          <a:bodyPr wrap="square" anchor="t" lIns="45720" rIns="45720" tIns="18288" bIns="18288">
            <a:spAutoFit/>
          </a:bodyPr>
          <a:lstStyle/>
          <a:p>
            <a:pPr algn="l">
              <a:lnSpc>
                <a:spcPct val="110000"/>
              </a:lnSpc>
            </a:pPr>
            <a:r>
              <a:rPr sz="1600" b="0">
                <a:solidFill>
                  <a:srgbClr val="F2F5F3"/>
                </a:solidFill>
                <a:latin typeface="Segoe UI"/>
              </a:rPr>
              <a:t>The developer never patched it</a:t>
            </a:r>
          </a:p>
        </p:txBody>
      </p:sp>
      <p:sp>
        <p:nvSpPr>
          <p:cNvPr id="10" name="Rounded Rectangle 9"/>
          <p:cNvSpPr/>
          <p:nvPr/>
        </p:nvSpPr>
        <p:spPr>
          <a:xfrm>
            <a:off x="6181344" y="1920240"/>
            <a:ext cx="2560320" cy="2286000"/>
          </a:xfrm>
          <a:prstGeom prst="roundRect">
            <a:avLst>
              <a:gd name="adj" fmla="val 6000"/>
            </a:avLst>
          </a:prstGeom>
          <a:solidFill>
            <a:srgbClr val="182A1F"/>
          </a:solidFill>
          <a:ln w="15875">
            <a:solidFill>
              <a:srgbClr val="2C44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194560"/>
            <a:ext cx="2103120" cy="731520"/>
          </a:xfrm>
          <a:prstGeom prst="rect">
            <a:avLst/>
          </a:prstGeom>
          <a:noFill/>
        </p:spPr>
        <p:txBody>
          <a:bodyPr wrap="square" anchor="t" lIns="45720" rIns="45720" tIns="18288" bIns="18288">
            <a:spAutoFit/>
          </a:bodyPr>
          <a:lstStyle/>
          <a:p>
            <a:pPr algn="l">
              <a:lnSpc>
                <a:spcPct val="110000"/>
              </a:lnSpc>
            </a:pPr>
            <a:r>
              <a:rPr sz="2800" b="1">
                <a:solidFill>
                  <a:srgbClr val="FF7A66"/>
                </a:solidFill>
                <a:latin typeface="Segoe UI"/>
              </a:rPr>
              <a:t>Feb 2021</a:t>
            </a:r>
          </a:p>
        </p:txBody>
      </p:sp>
      <p:sp>
        <p:nvSpPr>
          <p:cNvPr id="12" name="TextBox 11"/>
          <p:cNvSpPr txBox="1"/>
          <p:nvPr/>
        </p:nvSpPr>
        <p:spPr>
          <a:xfrm>
            <a:off x="6409944" y="2880360"/>
            <a:ext cx="2103120" cy="1188720"/>
          </a:xfrm>
          <a:prstGeom prst="rect">
            <a:avLst/>
          </a:prstGeom>
          <a:noFill/>
        </p:spPr>
        <p:txBody>
          <a:bodyPr wrap="square" anchor="t" lIns="45720" rIns="45720" tIns="18288" bIns="18288">
            <a:spAutoFit/>
          </a:bodyPr>
          <a:lstStyle/>
          <a:p>
            <a:pPr algn="l">
              <a:lnSpc>
                <a:spcPct val="110000"/>
              </a:lnSpc>
            </a:pPr>
            <a:r>
              <a:rPr sz="1600" b="0">
                <a:solidFill>
                  <a:srgbClr val="F2F5F3"/>
                </a:solidFill>
                <a:latin typeface="Segoe UI"/>
              </a:rPr>
              <a:t>4,625 students' data for sale on the dark web</a:t>
            </a:r>
          </a:p>
        </p:txBody>
      </p:sp>
      <p:sp>
        <p:nvSpPr>
          <p:cNvPr id="13" name="Rounded Rectangle 12"/>
          <p:cNvSpPr/>
          <p:nvPr/>
        </p:nvSpPr>
        <p:spPr>
          <a:xfrm>
            <a:off x="8951976" y="1920240"/>
            <a:ext cx="2560320" cy="2286000"/>
          </a:xfrm>
          <a:prstGeom prst="roundRect">
            <a:avLst>
              <a:gd name="adj" fmla="val 6000"/>
            </a:avLst>
          </a:prstGeom>
          <a:solidFill>
            <a:srgbClr val="182A1F"/>
          </a:solidFill>
          <a:ln w="15875">
            <a:solidFill>
              <a:srgbClr val="2C44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80576" y="2194560"/>
            <a:ext cx="2103120" cy="731520"/>
          </a:xfrm>
          <a:prstGeom prst="rect">
            <a:avLst/>
          </a:prstGeom>
          <a:noFill/>
        </p:spPr>
        <p:txBody>
          <a:bodyPr wrap="square" anchor="t" lIns="45720" rIns="45720" tIns="18288" bIns="18288">
            <a:spAutoFit/>
          </a:bodyPr>
          <a:lstStyle/>
          <a:p>
            <a:pPr algn="l">
              <a:lnSpc>
                <a:spcPct val="110000"/>
              </a:lnSpc>
            </a:pPr>
            <a:r>
              <a:rPr sz="2800" b="1">
                <a:solidFill>
                  <a:srgbClr val="E68AAE"/>
                </a:solidFill>
                <a:latin typeface="Segoe UI"/>
              </a:rPr>
              <a:t>S$10,000</a:t>
            </a:r>
          </a:p>
        </p:txBody>
      </p:sp>
      <p:sp>
        <p:nvSpPr>
          <p:cNvPr id="15" name="TextBox 14"/>
          <p:cNvSpPr txBox="1"/>
          <p:nvPr/>
        </p:nvSpPr>
        <p:spPr>
          <a:xfrm>
            <a:off x="9180576" y="2880360"/>
            <a:ext cx="2103120" cy="1188720"/>
          </a:xfrm>
          <a:prstGeom prst="rect">
            <a:avLst/>
          </a:prstGeom>
          <a:noFill/>
        </p:spPr>
        <p:txBody>
          <a:bodyPr wrap="square" anchor="t" lIns="45720" rIns="45720" tIns="18288" bIns="18288">
            <a:spAutoFit/>
          </a:bodyPr>
          <a:lstStyle/>
          <a:p>
            <a:pPr algn="l">
              <a:lnSpc>
                <a:spcPct val="110000"/>
              </a:lnSpc>
            </a:pPr>
            <a:r>
              <a:rPr sz="1600" b="0">
                <a:solidFill>
                  <a:srgbClr val="F2F5F3"/>
                </a:solidFill>
                <a:latin typeface="Segoe UI"/>
              </a:rPr>
              <a:t>PDPC fine. The company learned of it from the regulator</a:t>
            </a:r>
          </a:p>
        </p:txBody>
      </p:sp>
      <p:sp>
        <p:nvSpPr>
          <p:cNvPr id="16" name="TextBox 15"/>
          <p:cNvSpPr txBox="1"/>
          <p:nvPr/>
        </p:nvSpPr>
        <p:spPr>
          <a:xfrm>
            <a:off x="640080" y="4480560"/>
            <a:ext cx="10881360" cy="640080"/>
          </a:xfrm>
          <a:prstGeom prst="rect">
            <a:avLst/>
          </a:prstGeom>
          <a:noFill/>
        </p:spPr>
        <p:txBody>
          <a:bodyPr wrap="square" anchor="t" lIns="45720" rIns="45720" tIns="18288" bIns="18288">
            <a:spAutoFit/>
          </a:bodyPr>
          <a:lstStyle/>
          <a:p>
            <a:pPr algn="l">
              <a:lnSpc>
                <a:spcPct val="110000"/>
              </a:lnSpc>
            </a:pPr>
            <a:r>
              <a:rPr sz="2200" b="0">
                <a:solidFill>
                  <a:srgbClr val="F2F5F3"/>
                </a:solidFill>
                <a:latin typeface="Segoe UI"/>
              </a:rPr>
              <a:t>“The vulnerability was left unfixed until the Incident happened.”</a:t>
            </a:r>
          </a:p>
        </p:txBody>
      </p:sp>
      <p:sp>
        <p:nvSpPr>
          <p:cNvPr id="17" name="TextBox 16"/>
          <p:cNvSpPr txBox="1"/>
          <p:nvPr/>
        </p:nvSpPr>
        <p:spPr>
          <a:xfrm>
            <a:off x="640080" y="5120640"/>
            <a:ext cx="10881360" cy="548640"/>
          </a:xfrm>
          <a:prstGeom prst="rect">
            <a:avLst/>
          </a:prstGeom>
          <a:noFill/>
        </p:spPr>
        <p:txBody>
          <a:bodyPr wrap="square" anchor="t" lIns="45720" rIns="45720" tIns="18288" bIns="18288">
            <a:spAutoFit/>
          </a:bodyPr>
          <a:lstStyle/>
          <a:p>
            <a:pPr algn="l">
              <a:lnSpc>
                <a:spcPct val="110000"/>
              </a:lnSpc>
            </a:pPr>
            <a:r>
              <a:rPr sz="2600" b="1">
                <a:solidFill>
                  <a:srgbClr val="3FAE6A"/>
                </a:solidFill>
                <a:latin typeface="Segoe UI"/>
              </a:rPr>
              <a:t>Missing response, not missing alert.</a:t>
            </a:r>
          </a:p>
        </p:txBody>
      </p:sp>
      <p:sp>
        <p:nvSpPr>
          <p:cNvPr id="18" name="TextBox 17"/>
          <p:cNvSpPr txBox="1"/>
          <p:nvPr/>
        </p:nvSpPr>
        <p:spPr>
          <a:xfrm>
            <a:off x="640080" y="6355080"/>
            <a:ext cx="10881360" cy="320040"/>
          </a:xfrm>
          <a:prstGeom prst="rect">
            <a:avLst/>
          </a:prstGeom>
          <a:noFill/>
        </p:spPr>
        <p:txBody>
          <a:bodyPr wrap="square" anchor="t" lIns="45720" rIns="45720" tIns="18288" bIns="18288">
            <a:spAutoFit/>
          </a:bodyPr>
          <a:lstStyle/>
          <a:p>
            <a:pPr algn="l">
              <a:lnSpc>
                <a:spcPct val="110000"/>
              </a:lnSpc>
            </a:pPr>
            <a:r>
              <a:rPr sz="1100" b="0">
                <a:solidFill>
                  <a:srgbClr val="A9BBAF"/>
                </a:solidFill>
                <a:latin typeface="Segoe UI"/>
              </a:rPr>
              <a:t>ChampionTutor Inc. (Private Limited), PDPC decision DP-2103-B7984, published 14 Oct 2021, para 2.</a:t>
            </a:r>
          </a:p>
        </p:txBody>
      </p:sp>
      <p:sp>
        <p:nvSpPr>
          <p:cNvPr id="19" name="TextBox 18"/>
          <p:cNvSpPr txBox="1"/>
          <p:nvPr/>
        </p:nvSpPr>
        <p:spPr>
          <a:xfrm>
            <a:off x="11155680" y="6355080"/>
            <a:ext cx="457200" cy="320040"/>
          </a:xfrm>
          <a:prstGeom prst="rect">
            <a:avLst/>
          </a:prstGeom>
          <a:noFill/>
        </p:spPr>
        <p:txBody>
          <a:bodyPr wrap="square" anchor="t" lIns="45720" rIns="45720" tIns="18288" bIns="18288">
            <a:spAutoFit/>
          </a:bodyPr>
          <a:lstStyle/>
          <a:p>
            <a:pPr algn="r">
              <a:lnSpc>
                <a:spcPct val="110000"/>
              </a:lnSpc>
            </a:pPr>
            <a:r>
              <a:rPr sz="1100" b="0">
                <a:solidFill>
                  <a:srgbClr val="A9BBAF"/>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B14"/>
        </a:solidFill>
        <a:effectLst/>
      </p:bgPr>
    </p:bg>
    <p:spTree>
      <p:nvGrpSpPr>
        <p:cNvPr id="1" name=""/>
        <p:cNvGrpSpPr/>
        <p:nvPr/>
      </p:nvGrpSpPr>
      <p:grpSpPr/>
      <p:sp>
        <p:nvSpPr>
          <p:cNvPr id="2" name="TextBox 1"/>
          <p:cNvSpPr txBox="1"/>
          <p:nvPr/>
        </p:nvSpPr>
        <p:spPr>
          <a:xfrm>
            <a:off x="640080" y="411480"/>
            <a:ext cx="10058400" cy="365760"/>
          </a:xfrm>
          <a:prstGeom prst="rect">
            <a:avLst/>
          </a:prstGeom>
          <a:noFill/>
        </p:spPr>
        <p:txBody>
          <a:bodyPr wrap="square" anchor="t" lIns="45720" rIns="45720" tIns="18288" bIns="18288">
            <a:spAutoFit/>
          </a:bodyPr>
          <a:lstStyle/>
          <a:p>
            <a:pPr algn="l">
              <a:lnSpc>
                <a:spcPct val="110000"/>
              </a:lnSpc>
            </a:pPr>
            <a:r>
              <a:rPr sz="1300" b="1">
                <a:solidFill>
                  <a:srgbClr val="3FAE6A"/>
                </a:solidFill>
                <a:latin typeface="Segoe UI"/>
              </a:rPr>
              <a:t>WHY SMALL TEAMS GET BREACHED</a:t>
            </a:r>
          </a:p>
        </p:txBody>
      </p:sp>
      <p:sp>
        <p:nvSpPr>
          <p:cNvPr id="3" name="TextBox 2"/>
          <p:cNvSpPr txBox="1"/>
          <p:nvPr/>
        </p:nvSpPr>
        <p:spPr>
          <a:xfrm>
            <a:off x="640080" y="731520"/>
            <a:ext cx="10881360" cy="822960"/>
          </a:xfrm>
          <a:prstGeom prst="rect">
            <a:avLst/>
          </a:prstGeom>
          <a:noFill/>
        </p:spPr>
        <p:txBody>
          <a:bodyPr wrap="square" anchor="t" lIns="45720" rIns="45720" tIns="18288" bIns="18288">
            <a:spAutoFit/>
          </a:bodyPr>
          <a:lstStyle/>
          <a:p>
            <a:pPr algn="l">
              <a:lnSpc>
                <a:spcPct val="110000"/>
              </a:lnSpc>
            </a:pPr>
            <a:r>
              <a:rPr sz="3400" b="1">
                <a:solidFill>
                  <a:srgbClr val="F2F5F3"/>
                </a:solidFill>
                <a:latin typeface="Segoe UI"/>
              </a:rPr>
              <a:t>The problem</a:t>
            </a:r>
          </a:p>
        </p:txBody>
      </p:sp>
      <p:sp>
        <p:nvSpPr>
          <p:cNvPr id="4" name="TextBox 3"/>
          <p:cNvSpPr txBox="1"/>
          <p:nvPr/>
        </p:nvSpPr>
        <p:spPr>
          <a:xfrm>
            <a:off x="640080" y="1828800"/>
            <a:ext cx="6766560" cy="4114800"/>
          </a:xfrm>
          <a:prstGeom prst="rect">
            <a:avLst/>
          </a:prstGeom>
          <a:noFill/>
        </p:spPr>
        <p:txBody>
          <a:bodyPr wrap="square">
            <a:spAutoFit/>
          </a:bodyPr>
          <a:lstStyle/>
          <a:p>
            <a:pPr>
              <a:lnSpc>
                <a:spcPct val="110000"/>
              </a:lnSpc>
              <a:spcAft>
                <a:spcPts val="1600"/>
              </a:spcAft>
            </a:pPr>
            <a:r>
              <a:rPr sz="2100">
                <a:solidFill>
                  <a:srgbClr val="3FAE6A"/>
                </a:solidFill>
                <a:latin typeface="Segoe UI"/>
              </a:rPr>
              <a:t>▪  </a:t>
            </a:r>
            <a:r>
              <a:rPr sz="2100" b="0">
                <a:solidFill>
                  <a:srgbClr val="F2F5F3"/>
                </a:solidFill>
                <a:latin typeface="Segoe UI"/>
              </a:rPr>
              <a:t>Singapore SMEs and private schools hold lots of personal data, with one or two IT staff</a:t>
            </a:r>
          </a:p>
          <a:p>
            <a:pPr>
              <a:lnSpc>
                <a:spcPct val="110000"/>
              </a:lnSpc>
              <a:spcAft>
                <a:spcPts val="1600"/>
              </a:spcAft>
            </a:pPr>
            <a:r>
              <a:rPr sz="2100">
                <a:solidFill>
                  <a:srgbClr val="3FAE6A"/>
                </a:solidFill>
                <a:latin typeface="Segoe UI"/>
              </a:rPr>
              <a:t>▪  </a:t>
            </a:r>
            <a:r>
              <a:rPr sz="2100" b="0">
                <a:solidFill>
                  <a:srgbClr val="F2F5F3"/>
                </a:solidFill>
                <a:latin typeface="Segoe UI"/>
              </a:rPr>
              <a:t>No 24/7 security team, so alerts pile up and get ignored (alert fatigue)</a:t>
            </a:r>
          </a:p>
          <a:p>
            <a:pPr>
              <a:lnSpc>
                <a:spcPct val="110000"/>
              </a:lnSpc>
              <a:spcAft>
                <a:spcPts val="1600"/>
              </a:spcAft>
            </a:pPr>
            <a:r>
              <a:rPr sz="2100">
                <a:solidFill>
                  <a:srgbClr val="3FAE6A"/>
                </a:solidFill>
                <a:latin typeface="Segoe UI"/>
              </a:rPr>
              <a:t>▪  </a:t>
            </a:r>
            <a:r>
              <a:rPr sz="2100" b="1">
                <a:solidFill>
                  <a:srgbClr val="F2F5F3"/>
                </a:solidFill>
                <a:latin typeface="Segoe UI"/>
              </a:rPr>
              <a:t>PDPA fines: </a:t>
            </a:r>
            <a:r>
              <a:rPr sz="2100" b="0">
                <a:solidFill>
                  <a:srgbClr val="F2F5F3"/>
                </a:solidFill>
                <a:latin typeface="Segoe UI"/>
              </a:rPr>
              <a:t>up to S$1M or 10% of Singapore turnover, whichever is higher</a:t>
            </a:r>
          </a:p>
          <a:p>
            <a:pPr>
              <a:lnSpc>
                <a:spcPct val="110000"/>
              </a:lnSpc>
              <a:spcAft>
                <a:spcPts val="1600"/>
              </a:spcAft>
            </a:pPr>
            <a:r>
              <a:rPr sz="2100">
                <a:solidFill>
                  <a:srgbClr val="3FAE6A"/>
                </a:solidFill>
                <a:latin typeface="Segoe UI"/>
              </a:rPr>
              <a:t>▪  </a:t>
            </a:r>
            <a:r>
              <a:rPr sz="2100" b="0">
                <a:solidFill>
                  <a:srgbClr val="F2F5F3"/>
                </a:solidFill>
                <a:latin typeface="Segoe UI"/>
              </a:rPr>
              <a:t>After a breach, no one can prove who knew what, and when</a:t>
            </a:r>
          </a:p>
        </p:txBody>
      </p:sp>
      <p:pic>
        <p:nvPicPr>
          <p:cNvPr id="5" name="Picture 4" descr="bell.png"/>
          <p:cNvPicPr>
            <a:picLocks noChangeAspect="1"/>
          </p:cNvPicPr>
          <p:nvPr/>
        </p:nvPicPr>
        <p:blipFill>
          <a:blip r:embed="rId3"/>
          <a:stretch>
            <a:fillRect/>
          </a:stretch>
        </p:blipFill>
        <p:spPr>
          <a:xfrm>
            <a:off x="7680960" y="2011680"/>
            <a:ext cx="3931920" cy="3051566"/>
          </a:xfrm>
          <a:prstGeom prst="rect">
            <a:avLst/>
          </a:prstGeom>
        </p:spPr>
      </p:pic>
      <p:sp>
        <p:nvSpPr>
          <p:cNvPr id="6" name="TextBox 5"/>
          <p:cNvSpPr txBox="1"/>
          <p:nvPr/>
        </p:nvSpPr>
        <p:spPr>
          <a:xfrm>
            <a:off x="640080" y="6355080"/>
            <a:ext cx="10881360" cy="320040"/>
          </a:xfrm>
          <a:prstGeom prst="rect">
            <a:avLst/>
          </a:prstGeom>
          <a:noFill/>
        </p:spPr>
        <p:txBody>
          <a:bodyPr wrap="square" anchor="t" lIns="45720" rIns="45720" tIns="18288" bIns="18288">
            <a:spAutoFit/>
          </a:bodyPr>
          <a:lstStyle/>
          <a:p>
            <a:pPr algn="l">
              <a:lnSpc>
                <a:spcPct val="110000"/>
              </a:lnSpc>
            </a:pPr>
            <a:r>
              <a:rPr sz="1100" b="0">
                <a:solidFill>
                  <a:srgbClr val="A9BBAF"/>
                </a:solidFill>
                <a:latin typeface="Segoe UI"/>
              </a:rPr>
              <a:t>PDPA s48J (PDPC Guide on Active Enforcement, Oct 2022). 10% limb applies where Singapore turnover exceeds S$10M.</a:t>
            </a:r>
          </a:p>
        </p:txBody>
      </p:sp>
      <p:sp>
        <p:nvSpPr>
          <p:cNvPr id="7" name="TextBox 6"/>
          <p:cNvSpPr txBox="1"/>
          <p:nvPr/>
        </p:nvSpPr>
        <p:spPr>
          <a:xfrm>
            <a:off x="11155680" y="6355080"/>
            <a:ext cx="457200" cy="320040"/>
          </a:xfrm>
          <a:prstGeom prst="rect">
            <a:avLst/>
          </a:prstGeom>
          <a:noFill/>
        </p:spPr>
        <p:txBody>
          <a:bodyPr wrap="square" anchor="t" lIns="45720" rIns="45720" tIns="18288" bIns="18288">
            <a:spAutoFit/>
          </a:bodyPr>
          <a:lstStyle/>
          <a:p>
            <a:pPr algn="r">
              <a:lnSpc>
                <a:spcPct val="110000"/>
              </a:lnSpc>
            </a:pPr>
            <a:r>
              <a:rPr sz="1100" b="0">
                <a:solidFill>
                  <a:srgbClr val="A9BBAF"/>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B14"/>
        </a:solidFill>
        <a:effectLst/>
      </p:bgPr>
    </p:bg>
    <p:spTree>
      <p:nvGrpSpPr>
        <p:cNvPr id="1" name=""/>
        <p:cNvGrpSpPr/>
        <p:nvPr/>
      </p:nvGrpSpPr>
      <p:grpSpPr/>
      <p:sp>
        <p:nvSpPr>
          <p:cNvPr id="2" name="TextBox 1"/>
          <p:cNvSpPr txBox="1"/>
          <p:nvPr/>
        </p:nvSpPr>
        <p:spPr>
          <a:xfrm>
            <a:off x="640080" y="411480"/>
            <a:ext cx="10058400" cy="365760"/>
          </a:xfrm>
          <a:prstGeom prst="rect">
            <a:avLst/>
          </a:prstGeom>
          <a:noFill/>
        </p:spPr>
        <p:txBody>
          <a:bodyPr wrap="square" anchor="t" lIns="45720" rIns="45720" tIns="18288" bIns="18288">
            <a:spAutoFit/>
          </a:bodyPr>
          <a:lstStyle/>
          <a:p>
            <a:pPr algn="l">
              <a:lnSpc>
                <a:spcPct val="110000"/>
              </a:lnSpc>
            </a:pPr>
            <a:r>
              <a:rPr sz="1300" b="1">
                <a:solidFill>
                  <a:srgbClr val="3FAE6A"/>
                </a:solidFill>
                <a:latin typeface="Segoe UI"/>
              </a:rPr>
              <a:t>THE IDEA</a:t>
            </a:r>
          </a:p>
        </p:txBody>
      </p:sp>
      <p:sp>
        <p:nvSpPr>
          <p:cNvPr id="3" name="TextBox 2"/>
          <p:cNvSpPr txBox="1"/>
          <p:nvPr/>
        </p:nvSpPr>
        <p:spPr>
          <a:xfrm>
            <a:off x="640080" y="731520"/>
            <a:ext cx="10881360" cy="822960"/>
          </a:xfrm>
          <a:prstGeom prst="rect">
            <a:avLst/>
          </a:prstGeom>
          <a:noFill/>
        </p:spPr>
        <p:txBody>
          <a:bodyPr wrap="square" anchor="t" lIns="45720" rIns="45720" tIns="18288" bIns="18288">
            <a:spAutoFit/>
          </a:bodyPr>
          <a:lstStyle/>
          <a:p>
            <a:pPr algn="l">
              <a:lnSpc>
                <a:spcPct val="110000"/>
              </a:lnSpc>
            </a:pPr>
            <a:r>
              <a:rPr sz="3400" b="1">
                <a:solidFill>
                  <a:srgbClr val="F2F5F3"/>
                </a:solidFill>
                <a:latin typeface="Segoe UI"/>
              </a:rPr>
              <a:t>SentrAI in one sentence</a:t>
            </a:r>
          </a:p>
        </p:txBody>
      </p:sp>
      <p:sp>
        <p:nvSpPr>
          <p:cNvPr id="4" name="TextBox 3"/>
          <p:cNvSpPr txBox="1"/>
          <p:nvPr/>
        </p:nvSpPr>
        <p:spPr>
          <a:xfrm>
            <a:off x="640080" y="1645920"/>
            <a:ext cx="10881360" cy="914400"/>
          </a:xfrm>
          <a:prstGeom prst="rect">
            <a:avLst/>
          </a:prstGeom>
          <a:noFill/>
        </p:spPr>
        <p:txBody>
          <a:bodyPr wrap="square" anchor="t" lIns="45720" rIns="45720" tIns="18288" bIns="18288">
            <a:spAutoFit/>
          </a:bodyPr>
          <a:lstStyle/>
          <a:p>
            <a:pPr algn="l">
              <a:lnSpc>
                <a:spcPct val="110000"/>
              </a:lnSpc>
            </a:pPr>
            <a:r>
              <a:rPr sz="2100" b="0">
                <a:solidFill>
                  <a:srgbClr val="A9BBAF"/>
                </a:solidFill>
                <a:latin typeface="Segoe UI"/>
              </a:rPr>
              <a:t>Scores your risk from 0 to 100 across web, database and OS, warns the people you choose, and past your own tolerance line applies a temporary, reversible fix, with a tamper-evident record.</a:t>
            </a:r>
          </a:p>
        </p:txBody>
      </p:sp>
      <p:sp>
        <p:nvSpPr>
          <p:cNvPr id="5" name="Rounded Rectangle 4"/>
          <p:cNvSpPr/>
          <p:nvPr/>
        </p:nvSpPr>
        <p:spPr>
          <a:xfrm>
            <a:off x="640080" y="3200400"/>
            <a:ext cx="2423160" cy="2011680"/>
          </a:xfrm>
          <a:prstGeom prst="roundRect">
            <a:avLst>
              <a:gd name="adj" fmla="val 6000"/>
            </a:avLst>
          </a:prstGeom>
          <a:solidFill>
            <a:srgbClr val="182A1F"/>
          </a:solidFill>
          <a:ln w="15875">
            <a:solidFill>
              <a:srgbClr val="F2C1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520440"/>
            <a:ext cx="2423160" cy="640080"/>
          </a:xfrm>
          <a:prstGeom prst="rect">
            <a:avLst/>
          </a:prstGeom>
          <a:noFill/>
        </p:spPr>
        <p:txBody>
          <a:bodyPr wrap="square" anchor="t" lIns="45720" rIns="45720" tIns="18288" bIns="18288">
            <a:spAutoFit/>
          </a:bodyPr>
          <a:lstStyle/>
          <a:p>
            <a:pPr algn="ctr">
              <a:lnSpc>
                <a:spcPct val="110000"/>
              </a:lnSpc>
            </a:pPr>
            <a:r>
              <a:rPr sz="3000" b="1">
                <a:solidFill>
                  <a:srgbClr val="F2C14E"/>
                </a:solidFill>
                <a:latin typeface="Segoe UI"/>
              </a:rPr>
              <a:t>Warn</a:t>
            </a:r>
          </a:p>
        </p:txBody>
      </p:sp>
      <p:sp>
        <p:nvSpPr>
          <p:cNvPr id="7" name="TextBox 6"/>
          <p:cNvSpPr txBox="1"/>
          <p:nvPr/>
        </p:nvSpPr>
        <p:spPr>
          <a:xfrm>
            <a:off x="822960" y="4297680"/>
            <a:ext cx="2057400" cy="822960"/>
          </a:xfrm>
          <a:prstGeom prst="rect">
            <a:avLst/>
          </a:prstGeom>
          <a:noFill/>
        </p:spPr>
        <p:txBody>
          <a:bodyPr wrap="square" anchor="t" lIns="45720" rIns="45720" tIns="18288" bIns="18288">
            <a:spAutoFit/>
          </a:bodyPr>
          <a:lstStyle/>
          <a:p>
            <a:pPr algn="ctr">
              <a:lnSpc>
                <a:spcPct val="110000"/>
              </a:lnSpc>
            </a:pPr>
            <a:r>
              <a:rPr sz="1600" b="0">
                <a:solidFill>
                  <a:srgbClr val="F2F5F3"/>
                </a:solidFill>
                <a:latin typeface="Segoe UI"/>
              </a:rPr>
              <a:t>Alert the on-duty operator</a:t>
            </a:r>
          </a:p>
        </p:txBody>
      </p:sp>
      <p:sp>
        <p:nvSpPr>
          <p:cNvPr id="8" name="TextBox 7"/>
          <p:cNvSpPr txBox="1"/>
          <p:nvPr/>
        </p:nvSpPr>
        <p:spPr>
          <a:xfrm>
            <a:off x="3063240" y="3886200"/>
            <a:ext cx="393192" cy="548640"/>
          </a:xfrm>
          <a:prstGeom prst="rect">
            <a:avLst/>
          </a:prstGeom>
          <a:noFill/>
        </p:spPr>
        <p:txBody>
          <a:bodyPr wrap="square" anchor="t" lIns="45720" rIns="45720" tIns="18288" bIns="18288">
            <a:spAutoFit/>
          </a:bodyPr>
          <a:lstStyle/>
          <a:p>
            <a:pPr algn="ctr">
              <a:lnSpc>
                <a:spcPct val="110000"/>
              </a:lnSpc>
            </a:pPr>
            <a:r>
              <a:rPr sz="3000" b="0">
                <a:solidFill>
                  <a:srgbClr val="A9BBAF"/>
                </a:solidFill>
                <a:latin typeface="Segoe UI"/>
              </a:rPr>
              <a:t>→</a:t>
            </a:r>
          </a:p>
        </p:txBody>
      </p:sp>
      <p:sp>
        <p:nvSpPr>
          <p:cNvPr id="9" name="Rounded Rectangle 8"/>
          <p:cNvSpPr/>
          <p:nvPr/>
        </p:nvSpPr>
        <p:spPr>
          <a:xfrm>
            <a:off x="3456432" y="3200400"/>
            <a:ext cx="2423160" cy="2011680"/>
          </a:xfrm>
          <a:prstGeom prst="roundRect">
            <a:avLst>
              <a:gd name="adj" fmla="val 6000"/>
            </a:avLst>
          </a:prstGeom>
          <a:solidFill>
            <a:srgbClr val="182A1F"/>
          </a:solidFill>
          <a:ln w="15875">
            <a:solidFill>
              <a:srgbClr val="F2C1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56432" y="3520440"/>
            <a:ext cx="2423160" cy="640080"/>
          </a:xfrm>
          <a:prstGeom prst="rect">
            <a:avLst/>
          </a:prstGeom>
          <a:noFill/>
        </p:spPr>
        <p:txBody>
          <a:bodyPr wrap="square" anchor="t" lIns="45720" rIns="45720" tIns="18288" bIns="18288">
            <a:spAutoFit/>
          </a:bodyPr>
          <a:lstStyle/>
          <a:p>
            <a:pPr algn="ctr">
              <a:lnSpc>
                <a:spcPct val="110000"/>
              </a:lnSpc>
            </a:pPr>
            <a:r>
              <a:rPr sz="3000" b="1">
                <a:solidFill>
                  <a:srgbClr val="F2C14E"/>
                </a:solidFill>
                <a:latin typeface="Segoe UI"/>
              </a:rPr>
              <a:t>Remind</a:t>
            </a:r>
          </a:p>
        </p:txBody>
      </p:sp>
      <p:sp>
        <p:nvSpPr>
          <p:cNvPr id="11" name="TextBox 10"/>
          <p:cNvSpPr txBox="1"/>
          <p:nvPr/>
        </p:nvSpPr>
        <p:spPr>
          <a:xfrm>
            <a:off x="3639312" y="4297680"/>
            <a:ext cx="2057400" cy="822960"/>
          </a:xfrm>
          <a:prstGeom prst="rect">
            <a:avLst/>
          </a:prstGeom>
          <a:noFill/>
        </p:spPr>
        <p:txBody>
          <a:bodyPr wrap="square" anchor="t" lIns="45720" rIns="45720" tIns="18288" bIns="18288">
            <a:spAutoFit/>
          </a:bodyPr>
          <a:lstStyle/>
          <a:p>
            <a:pPr algn="ctr">
              <a:lnSpc>
                <a:spcPct val="110000"/>
              </a:lnSpc>
            </a:pPr>
            <a:r>
              <a:rPr sz="1600" b="0">
                <a:solidFill>
                  <a:srgbClr val="F2F5F3"/>
                </a:solidFill>
                <a:latin typeface="Segoe UI"/>
              </a:rPr>
              <a:t>SLA missed: remind, copy the lead</a:t>
            </a:r>
          </a:p>
        </p:txBody>
      </p:sp>
      <p:sp>
        <p:nvSpPr>
          <p:cNvPr id="12" name="TextBox 11"/>
          <p:cNvSpPr txBox="1"/>
          <p:nvPr/>
        </p:nvSpPr>
        <p:spPr>
          <a:xfrm>
            <a:off x="5879592" y="3886200"/>
            <a:ext cx="393192" cy="548640"/>
          </a:xfrm>
          <a:prstGeom prst="rect">
            <a:avLst/>
          </a:prstGeom>
          <a:noFill/>
        </p:spPr>
        <p:txBody>
          <a:bodyPr wrap="square" anchor="t" lIns="45720" rIns="45720" tIns="18288" bIns="18288">
            <a:spAutoFit/>
          </a:bodyPr>
          <a:lstStyle/>
          <a:p>
            <a:pPr algn="ctr">
              <a:lnSpc>
                <a:spcPct val="110000"/>
              </a:lnSpc>
            </a:pPr>
            <a:r>
              <a:rPr sz="3000" b="0">
                <a:solidFill>
                  <a:srgbClr val="A9BBAF"/>
                </a:solidFill>
                <a:latin typeface="Segoe UI"/>
              </a:rPr>
              <a:t>→</a:t>
            </a:r>
          </a:p>
        </p:txBody>
      </p:sp>
      <p:sp>
        <p:nvSpPr>
          <p:cNvPr id="13" name="Rounded Rectangle 12"/>
          <p:cNvSpPr/>
          <p:nvPr/>
        </p:nvSpPr>
        <p:spPr>
          <a:xfrm>
            <a:off x="6272784" y="3200400"/>
            <a:ext cx="2423160" cy="2011680"/>
          </a:xfrm>
          <a:prstGeom prst="roundRect">
            <a:avLst>
              <a:gd name="adj" fmla="val 6000"/>
            </a:avLst>
          </a:prstGeom>
          <a:solidFill>
            <a:srgbClr val="182A1F"/>
          </a:solidFill>
          <a:ln w="15875">
            <a:solidFill>
              <a:srgbClr val="FF7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2784" y="3520440"/>
            <a:ext cx="2423160" cy="640080"/>
          </a:xfrm>
          <a:prstGeom prst="rect">
            <a:avLst/>
          </a:prstGeom>
          <a:noFill/>
        </p:spPr>
        <p:txBody>
          <a:bodyPr wrap="square" anchor="t" lIns="45720" rIns="45720" tIns="18288" bIns="18288">
            <a:spAutoFit/>
          </a:bodyPr>
          <a:lstStyle/>
          <a:p>
            <a:pPr algn="ctr">
              <a:lnSpc>
                <a:spcPct val="110000"/>
              </a:lnSpc>
            </a:pPr>
            <a:r>
              <a:rPr sz="3000" b="1">
                <a:solidFill>
                  <a:srgbClr val="FF7A66"/>
                </a:solidFill>
                <a:latin typeface="Segoe UI"/>
              </a:rPr>
              <a:t>Contain</a:t>
            </a:r>
          </a:p>
        </p:txBody>
      </p:sp>
      <p:sp>
        <p:nvSpPr>
          <p:cNvPr id="15" name="TextBox 14"/>
          <p:cNvSpPr txBox="1"/>
          <p:nvPr/>
        </p:nvSpPr>
        <p:spPr>
          <a:xfrm>
            <a:off x="6455664" y="4297680"/>
            <a:ext cx="2057400" cy="822960"/>
          </a:xfrm>
          <a:prstGeom prst="rect">
            <a:avLst/>
          </a:prstGeom>
          <a:noFill/>
        </p:spPr>
        <p:txBody>
          <a:bodyPr wrap="square" anchor="t" lIns="45720" rIns="45720" tIns="18288" bIns="18288">
            <a:spAutoFit/>
          </a:bodyPr>
          <a:lstStyle/>
          <a:p>
            <a:pPr algn="ctr">
              <a:lnSpc>
                <a:spcPct val="110000"/>
              </a:lnSpc>
            </a:pPr>
            <a:r>
              <a:rPr sz="1600" b="0">
                <a:solidFill>
                  <a:srgbClr val="F2F5F3"/>
                </a:solidFill>
                <a:latin typeface="Segoe UI"/>
              </a:rPr>
              <a:t>Temporary block, 2h expiry</a:t>
            </a:r>
          </a:p>
        </p:txBody>
      </p:sp>
      <p:sp>
        <p:nvSpPr>
          <p:cNvPr id="16" name="TextBox 15"/>
          <p:cNvSpPr txBox="1"/>
          <p:nvPr/>
        </p:nvSpPr>
        <p:spPr>
          <a:xfrm>
            <a:off x="8695944" y="3886200"/>
            <a:ext cx="393192" cy="548640"/>
          </a:xfrm>
          <a:prstGeom prst="rect">
            <a:avLst/>
          </a:prstGeom>
          <a:noFill/>
        </p:spPr>
        <p:txBody>
          <a:bodyPr wrap="square" anchor="t" lIns="45720" rIns="45720" tIns="18288" bIns="18288">
            <a:spAutoFit/>
          </a:bodyPr>
          <a:lstStyle/>
          <a:p>
            <a:pPr algn="ctr">
              <a:lnSpc>
                <a:spcPct val="110000"/>
              </a:lnSpc>
            </a:pPr>
            <a:r>
              <a:rPr sz="3000" b="0">
                <a:solidFill>
                  <a:srgbClr val="A9BBAF"/>
                </a:solidFill>
                <a:latin typeface="Segoe UI"/>
              </a:rPr>
              <a:t>→</a:t>
            </a:r>
          </a:p>
        </p:txBody>
      </p:sp>
      <p:sp>
        <p:nvSpPr>
          <p:cNvPr id="17" name="Rounded Rectangle 16"/>
          <p:cNvSpPr/>
          <p:nvPr/>
        </p:nvSpPr>
        <p:spPr>
          <a:xfrm>
            <a:off x="9089136" y="3200400"/>
            <a:ext cx="2423160" cy="2011680"/>
          </a:xfrm>
          <a:prstGeom prst="roundRect">
            <a:avLst>
              <a:gd name="adj" fmla="val 6000"/>
            </a:avLst>
          </a:prstGeom>
          <a:solidFill>
            <a:srgbClr val="182A1F"/>
          </a:solidFill>
          <a:ln w="15875">
            <a:solidFill>
              <a:srgbClr val="3FA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89136" y="3520440"/>
            <a:ext cx="2423160" cy="640080"/>
          </a:xfrm>
          <a:prstGeom prst="rect">
            <a:avLst/>
          </a:prstGeom>
          <a:noFill/>
        </p:spPr>
        <p:txBody>
          <a:bodyPr wrap="square" anchor="t" lIns="45720" rIns="45720" tIns="18288" bIns="18288">
            <a:spAutoFit/>
          </a:bodyPr>
          <a:lstStyle/>
          <a:p>
            <a:pPr algn="ctr">
              <a:lnSpc>
                <a:spcPct val="110000"/>
              </a:lnSpc>
            </a:pPr>
            <a:r>
              <a:rPr sz="3000" b="1">
                <a:solidFill>
                  <a:srgbClr val="3FAE6A"/>
                </a:solidFill>
                <a:latin typeface="Segoe UI"/>
              </a:rPr>
              <a:t>Report</a:t>
            </a:r>
          </a:p>
        </p:txBody>
      </p:sp>
      <p:sp>
        <p:nvSpPr>
          <p:cNvPr id="19" name="TextBox 18"/>
          <p:cNvSpPr txBox="1"/>
          <p:nvPr/>
        </p:nvSpPr>
        <p:spPr>
          <a:xfrm>
            <a:off x="9272016" y="4297680"/>
            <a:ext cx="2057400" cy="822960"/>
          </a:xfrm>
          <a:prstGeom prst="rect">
            <a:avLst/>
          </a:prstGeom>
          <a:noFill/>
        </p:spPr>
        <p:txBody>
          <a:bodyPr wrap="square" anchor="t" lIns="45720" rIns="45720" tIns="18288" bIns="18288">
            <a:spAutoFit/>
          </a:bodyPr>
          <a:lstStyle/>
          <a:p>
            <a:pPr algn="ctr">
              <a:lnSpc>
                <a:spcPct val="110000"/>
              </a:lnSpc>
            </a:pPr>
            <a:r>
              <a:rPr sz="1600" b="0">
                <a:solidFill>
                  <a:srgbClr val="F2F5F3"/>
                </a:solidFill>
                <a:latin typeface="Segoe UI"/>
              </a:rPr>
              <a:t>Evidence report + audit chain</a:t>
            </a:r>
          </a:p>
        </p:txBody>
      </p:sp>
      <p:sp>
        <p:nvSpPr>
          <p:cNvPr id="20" name="TextBox 19"/>
          <p:cNvSpPr txBox="1"/>
          <p:nvPr/>
        </p:nvSpPr>
        <p:spPr>
          <a:xfrm>
            <a:off x="11155680" y="6355080"/>
            <a:ext cx="457200" cy="320040"/>
          </a:xfrm>
          <a:prstGeom prst="rect">
            <a:avLst/>
          </a:prstGeom>
          <a:noFill/>
        </p:spPr>
        <p:txBody>
          <a:bodyPr wrap="square" anchor="t" lIns="45720" rIns="45720" tIns="18288" bIns="18288">
            <a:spAutoFit/>
          </a:bodyPr>
          <a:lstStyle/>
          <a:p>
            <a:pPr algn="r">
              <a:lnSpc>
                <a:spcPct val="110000"/>
              </a:lnSpc>
            </a:pPr>
            <a:r>
              <a:rPr sz="1100" b="0">
                <a:solidFill>
                  <a:srgbClr val="A9BBAF"/>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B14"/>
        </a:solidFill>
        <a:effectLst/>
      </p:bgPr>
    </p:bg>
    <p:spTree>
      <p:nvGrpSpPr>
        <p:cNvPr id="1" name=""/>
        <p:cNvGrpSpPr/>
        <p:nvPr/>
      </p:nvGrpSpPr>
      <p:grpSpPr/>
      <p:sp>
        <p:nvSpPr>
          <p:cNvPr id="2" name="TextBox 1"/>
          <p:cNvSpPr txBox="1"/>
          <p:nvPr/>
        </p:nvSpPr>
        <p:spPr>
          <a:xfrm>
            <a:off x="640080" y="411480"/>
            <a:ext cx="10058400" cy="365760"/>
          </a:xfrm>
          <a:prstGeom prst="rect">
            <a:avLst/>
          </a:prstGeom>
          <a:noFill/>
        </p:spPr>
        <p:txBody>
          <a:bodyPr wrap="square" anchor="t" lIns="45720" rIns="45720" tIns="18288" bIns="18288">
            <a:spAutoFit/>
          </a:bodyPr>
          <a:lstStyle/>
          <a:p>
            <a:pPr algn="l">
              <a:lnSpc>
                <a:spcPct val="110000"/>
              </a:lnSpc>
            </a:pPr>
            <a:r>
              <a:rPr sz="1300" b="1">
                <a:solidFill>
                  <a:srgbClr val="3FAE6A"/>
                </a:solidFill>
                <a:latin typeface="Segoe UI"/>
              </a:rPr>
              <a:t>TWO PRINCIPLES</a:t>
            </a:r>
          </a:p>
        </p:txBody>
      </p:sp>
      <p:sp>
        <p:nvSpPr>
          <p:cNvPr id="3" name="TextBox 2"/>
          <p:cNvSpPr txBox="1"/>
          <p:nvPr/>
        </p:nvSpPr>
        <p:spPr>
          <a:xfrm>
            <a:off x="640080" y="731520"/>
            <a:ext cx="10881360" cy="822960"/>
          </a:xfrm>
          <a:prstGeom prst="rect">
            <a:avLst/>
          </a:prstGeom>
          <a:noFill/>
        </p:spPr>
        <p:txBody>
          <a:bodyPr wrap="square" anchor="t" lIns="45720" rIns="45720" tIns="18288" bIns="18288">
            <a:spAutoFit/>
          </a:bodyPr>
          <a:lstStyle/>
          <a:p>
            <a:pPr algn="l">
              <a:lnSpc>
                <a:spcPct val="110000"/>
              </a:lnSpc>
            </a:pPr>
            <a:r>
              <a:rPr sz="3400" b="1">
                <a:solidFill>
                  <a:srgbClr val="F2F5F3"/>
                </a:solidFill>
                <a:latin typeface="Segoe UI"/>
              </a:rPr>
              <a:t>CIA + NA</a:t>
            </a:r>
          </a:p>
        </p:txBody>
      </p:sp>
      <p:sp>
        <p:nvSpPr>
          <p:cNvPr id="4" name="Rounded Rectangle 3"/>
          <p:cNvSpPr/>
          <p:nvPr/>
        </p:nvSpPr>
        <p:spPr>
          <a:xfrm>
            <a:off x="640080" y="1783080"/>
            <a:ext cx="5303520" cy="3291840"/>
          </a:xfrm>
          <a:prstGeom prst="roundRect">
            <a:avLst>
              <a:gd name="adj" fmla="val 6000"/>
            </a:avLst>
          </a:prstGeom>
          <a:solidFill>
            <a:srgbClr val="182A1F"/>
          </a:solidFill>
          <a:ln w="15875">
            <a:solidFill>
              <a:srgbClr val="3FA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965960"/>
            <a:ext cx="5303520" cy="731520"/>
          </a:xfrm>
          <a:prstGeom prst="rect">
            <a:avLst/>
          </a:prstGeom>
          <a:noFill/>
        </p:spPr>
        <p:txBody>
          <a:bodyPr wrap="square" anchor="t" lIns="45720" rIns="45720" tIns="18288" bIns="18288">
            <a:spAutoFit/>
          </a:bodyPr>
          <a:lstStyle/>
          <a:p>
            <a:pPr algn="l">
              <a:lnSpc>
                <a:spcPct val="110000"/>
              </a:lnSpc>
            </a:pPr>
            <a:r>
              <a:rPr sz="4000" b="1">
                <a:solidFill>
                  <a:srgbClr val="3FAE6A"/>
                </a:solidFill>
                <a:latin typeface="Segoe UI"/>
              </a:rPr>
              <a:t>CIA</a:t>
            </a:r>
          </a:p>
        </p:txBody>
      </p:sp>
      <p:sp>
        <p:nvSpPr>
          <p:cNvPr id="6" name="TextBox 5"/>
          <p:cNvSpPr txBox="1"/>
          <p:nvPr/>
        </p:nvSpPr>
        <p:spPr>
          <a:xfrm>
            <a:off x="960120" y="2697480"/>
            <a:ext cx="5303520" cy="457200"/>
          </a:xfrm>
          <a:prstGeom prst="rect">
            <a:avLst/>
          </a:prstGeom>
          <a:noFill/>
        </p:spPr>
        <p:txBody>
          <a:bodyPr wrap="square" anchor="t" lIns="45720" rIns="45720" tIns="18288" bIns="18288">
            <a:spAutoFit/>
          </a:bodyPr>
          <a:lstStyle/>
          <a:p>
            <a:pPr algn="l">
              <a:lnSpc>
                <a:spcPct val="110000"/>
              </a:lnSpc>
            </a:pPr>
            <a:r>
              <a:rPr sz="1700" b="0">
                <a:solidFill>
                  <a:srgbClr val="A9BBAF"/>
                </a:solidFill>
                <a:latin typeface="Segoe UI"/>
              </a:rPr>
              <a:t>Protect the data</a:t>
            </a:r>
          </a:p>
        </p:txBody>
      </p:sp>
      <p:sp>
        <p:nvSpPr>
          <p:cNvPr id="7" name="TextBox 6"/>
          <p:cNvSpPr txBox="1"/>
          <p:nvPr/>
        </p:nvSpPr>
        <p:spPr>
          <a:xfrm>
            <a:off x="960120" y="3246120"/>
            <a:ext cx="4663440" cy="1828800"/>
          </a:xfrm>
          <a:prstGeom prst="rect">
            <a:avLst/>
          </a:prstGeom>
          <a:noFill/>
        </p:spPr>
        <p:txBody>
          <a:bodyPr wrap="square">
            <a:spAutoFit/>
          </a:bodyPr>
          <a:lstStyle/>
          <a:p>
            <a:pPr>
              <a:lnSpc>
                <a:spcPct val="110000"/>
              </a:lnSpc>
              <a:spcAft>
                <a:spcPts val="800"/>
              </a:spcAft>
            </a:pPr>
            <a:r>
              <a:rPr sz="1800">
                <a:solidFill>
                  <a:srgbClr val="3FAE6A"/>
                </a:solidFill>
                <a:latin typeface="Segoe UI"/>
              </a:rPr>
              <a:t>▪  </a:t>
            </a:r>
            <a:r>
              <a:rPr sz="1800" b="0">
                <a:solidFill>
                  <a:srgbClr val="F2F5F3"/>
                </a:solidFill>
                <a:latin typeface="Segoe UI"/>
              </a:rPr>
              <a:t>Confidentiality</a:t>
            </a:r>
          </a:p>
          <a:p>
            <a:pPr>
              <a:lnSpc>
                <a:spcPct val="110000"/>
              </a:lnSpc>
              <a:spcAft>
                <a:spcPts val="800"/>
              </a:spcAft>
            </a:pPr>
            <a:r>
              <a:rPr sz="1800">
                <a:solidFill>
                  <a:srgbClr val="3FAE6A"/>
                </a:solidFill>
                <a:latin typeface="Segoe UI"/>
              </a:rPr>
              <a:t>▪  </a:t>
            </a:r>
            <a:r>
              <a:rPr sz="1800" b="0">
                <a:solidFill>
                  <a:srgbClr val="F2F5F3"/>
                </a:solidFill>
                <a:latin typeface="Segoe UI"/>
              </a:rPr>
              <a:t>Integrity</a:t>
            </a:r>
          </a:p>
          <a:p>
            <a:pPr>
              <a:lnSpc>
                <a:spcPct val="110000"/>
              </a:lnSpc>
              <a:spcAft>
                <a:spcPts val="800"/>
              </a:spcAft>
            </a:pPr>
            <a:r>
              <a:rPr sz="1800">
                <a:solidFill>
                  <a:srgbClr val="3FAE6A"/>
                </a:solidFill>
                <a:latin typeface="Segoe UI"/>
              </a:rPr>
              <a:t>▪  </a:t>
            </a:r>
            <a:r>
              <a:rPr sz="1800" b="0">
                <a:solidFill>
                  <a:srgbClr val="F2F5F3"/>
                </a:solidFill>
                <a:latin typeface="Segoe UI"/>
              </a:rPr>
              <a:t>Availability</a:t>
            </a:r>
          </a:p>
        </p:txBody>
      </p:sp>
      <p:sp>
        <p:nvSpPr>
          <p:cNvPr id="8" name="Rounded Rectangle 7"/>
          <p:cNvSpPr/>
          <p:nvPr/>
        </p:nvSpPr>
        <p:spPr>
          <a:xfrm>
            <a:off x="6217920" y="1783080"/>
            <a:ext cx="5303520" cy="3291840"/>
          </a:xfrm>
          <a:prstGeom prst="roundRect">
            <a:avLst>
              <a:gd name="adj" fmla="val 6000"/>
            </a:avLst>
          </a:prstGeom>
          <a:solidFill>
            <a:srgbClr val="182A1F"/>
          </a:solidFill>
          <a:ln w="15875">
            <a:solidFill>
              <a:srgbClr val="F2C1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965960"/>
            <a:ext cx="5303520" cy="731520"/>
          </a:xfrm>
          <a:prstGeom prst="rect">
            <a:avLst/>
          </a:prstGeom>
          <a:noFill/>
        </p:spPr>
        <p:txBody>
          <a:bodyPr wrap="square" anchor="t" lIns="45720" rIns="45720" tIns="18288" bIns="18288">
            <a:spAutoFit/>
          </a:bodyPr>
          <a:lstStyle/>
          <a:p>
            <a:pPr algn="l">
              <a:lnSpc>
                <a:spcPct val="110000"/>
              </a:lnSpc>
            </a:pPr>
            <a:r>
              <a:rPr sz="4000" b="1">
                <a:solidFill>
                  <a:srgbClr val="F2C14E"/>
                </a:solidFill>
                <a:latin typeface="Segoe UI"/>
              </a:rPr>
              <a:t>NA</a:t>
            </a:r>
          </a:p>
        </p:txBody>
      </p:sp>
      <p:sp>
        <p:nvSpPr>
          <p:cNvPr id="10" name="TextBox 9"/>
          <p:cNvSpPr txBox="1"/>
          <p:nvPr/>
        </p:nvSpPr>
        <p:spPr>
          <a:xfrm>
            <a:off x="6537960" y="2697480"/>
            <a:ext cx="5303520" cy="457200"/>
          </a:xfrm>
          <a:prstGeom prst="rect">
            <a:avLst/>
          </a:prstGeom>
          <a:noFill/>
        </p:spPr>
        <p:txBody>
          <a:bodyPr wrap="square" anchor="t" lIns="45720" rIns="45720" tIns="18288" bIns="18288">
            <a:spAutoFit/>
          </a:bodyPr>
          <a:lstStyle/>
          <a:p>
            <a:pPr algn="l">
              <a:lnSpc>
                <a:spcPct val="110000"/>
              </a:lnSpc>
            </a:pPr>
            <a:r>
              <a:rPr sz="1700" b="0">
                <a:solidFill>
                  <a:srgbClr val="A9BBAF"/>
                </a:solidFill>
                <a:latin typeface="Segoe UI"/>
              </a:rPr>
              <a:t>Prove who did what</a:t>
            </a:r>
          </a:p>
        </p:txBody>
      </p:sp>
      <p:sp>
        <p:nvSpPr>
          <p:cNvPr id="11" name="TextBox 10"/>
          <p:cNvSpPr txBox="1"/>
          <p:nvPr/>
        </p:nvSpPr>
        <p:spPr>
          <a:xfrm>
            <a:off x="6537960" y="3246120"/>
            <a:ext cx="4663440" cy="1828800"/>
          </a:xfrm>
          <a:prstGeom prst="rect">
            <a:avLst/>
          </a:prstGeom>
          <a:noFill/>
        </p:spPr>
        <p:txBody>
          <a:bodyPr wrap="square">
            <a:spAutoFit/>
          </a:bodyPr>
          <a:lstStyle/>
          <a:p>
            <a:pPr>
              <a:lnSpc>
                <a:spcPct val="110000"/>
              </a:lnSpc>
              <a:spcAft>
                <a:spcPts val="800"/>
              </a:spcAft>
            </a:pPr>
            <a:r>
              <a:rPr sz="1800">
                <a:solidFill>
                  <a:srgbClr val="3FAE6A"/>
                </a:solidFill>
                <a:latin typeface="Segoe UI"/>
              </a:rPr>
              <a:t>▪  </a:t>
            </a:r>
            <a:r>
              <a:rPr sz="1800" b="0">
                <a:solidFill>
                  <a:srgbClr val="F2F5F3"/>
                </a:solidFill>
                <a:latin typeface="Segoe UI"/>
              </a:rPr>
              <a:t>Non-repudiation: every alert and acknowledgement is hash-chained</a:t>
            </a:r>
          </a:p>
          <a:p>
            <a:pPr>
              <a:lnSpc>
                <a:spcPct val="110000"/>
              </a:lnSpc>
              <a:spcAft>
                <a:spcPts val="800"/>
              </a:spcAft>
            </a:pPr>
            <a:r>
              <a:rPr sz="1800">
                <a:solidFill>
                  <a:srgbClr val="3FAE6A"/>
                </a:solidFill>
                <a:latin typeface="Segoe UI"/>
              </a:rPr>
              <a:t>▪  </a:t>
            </a:r>
            <a:r>
              <a:rPr sz="1800" b="0">
                <a:solidFill>
                  <a:srgbClr val="F2F5F3"/>
                </a:solidFill>
                <a:latin typeface="Segoe UI"/>
              </a:rPr>
              <a:t>Authentication: every decision is tied to a named operator</a:t>
            </a:r>
          </a:p>
        </p:txBody>
      </p:sp>
      <p:sp>
        <p:nvSpPr>
          <p:cNvPr id="12" name="TextBox 11"/>
          <p:cNvSpPr txBox="1"/>
          <p:nvPr/>
        </p:nvSpPr>
        <p:spPr>
          <a:xfrm>
            <a:off x="640080" y="5349240"/>
            <a:ext cx="10881360" cy="548640"/>
          </a:xfrm>
          <a:prstGeom prst="rect">
            <a:avLst/>
          </a:prstGeom>
          <a:noFill/>
        </p:spPr>
        <p:txBody>
          <a:bodyPr wrap="square" anchor="t" lIns="45720" rIns="45720" tIns="18288" bIns="18288">
            <a:spAutoFit/>
          </a:bodyPr>
          <a:lstStyle/>
          <a:p>
            <a:pPr algn="l">
              <a:lnSpc>
                <a:spcPct val="110000"/>
              </a:lnSpc>
            </a:pPr>
            <a:r>
              <a:rPr sz="2200" b="1">
                <a:solidFill>
                  <a:srgbClr val="3FAE6A"/>
                </a:solidFill>
                <a:latin typeface="Segoe UI"/>
              </a:rPr>
              <a:t>Result: </a:t>
            </a:r>
            <a:r>
              <a:rPr sz="2200" b="0">
                <a:solidFill>
                  <a:srgbClr val="F2F5F3"/>
                </a:solidFill>
                <a:latin typeface="Segoe UI"/>
              </a:rPr>
              <a:t>“I was never notified” is no longer an excuse.</a:t>
            </a:r>
          </a:p>
        </p:txBody>
      </p:sp>
      <p:sp>
        <p:nvSpPr>
          <p:cNvPr id="13" name="TextBox 12"/>
          <p:cNvSpPr txBox="1"/>
          <p:nvPr/>
        </p:nvSpPr>
        <p:spPr>
          <a:xfrm>
            <a:off x="11155680" y="6355080"/>
            <a:ext cx="457200" cy="320040"/>
          </a:xfrm>
          <a:prstGeom prst="rect">
            <a:avLst/>
          </a:prstGeom>
          <a:noFill/>
        </p:spPr>
        <p:txBody>
          <a:bodyPr wrap="square" anchor="t" lIns="45720" rIns="45720" tIns="18288" bIns="18288">
            <a:spAutoFit/>
          </a:bodyPr>
          <a:lstStyle/>
          <a:p>
            <a:pPr algn="r">
              <a:lnSpc>
                <a:spcPct val="110000"/>
              </a:lnSpc>
            </a:pPr>
            <a:r>
              <a:rPr sz="1100" b="0">
                <a:solidFill>
                  <a:srgbClr val="A9BBAF"/>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B14"/>
        </a:solidFill>
        <a:effectLst/>
      </p:bgPr>
    </p:bg>
    <p:spTree>
      <p:nvGrpSpPr>
        <p:cNvPr id="1" name=""/>
        <p:cNvGrpSpPr/>
        <p:nvPr/>
      </p:nvGrpSpPr>
      <p:grpSpPr/>
      <p:sp>
        <p:nvSpPr>
          <p:cNvPr id="2" name="TextBox 1"/>
          <p:cNvSpPr txBox="1"/>
          <p:nvPr/>
        </p:nvSpPr>
        <p:spPr>
          <a:xfrm>
            <a:off x="640080" y="411480"/>
            <a:ext cx="10058400" cy="365760"/>
          </a:xfrm>
          <a:prstGeom prst="rect">
            <a:avLst/>
          </a:prstGeom>
          <a:noFill/>
        </p:spPr>
        <p:txBody>
          <a:bodyPr wrap="square" anchor="t" lIns="45720" rIns="45720" tIns="18288" bIns="18288">
            <a:spAutoFit/>
          </a:bodyPr>
          <a:lstStyle/>
          <a:p>
            <a:pPr algn="l">
              <a:lnSpc>
                <a:spcPct val="110000"/>
              </a:lnSpc>
            </a:pPr>
            <a:r>
              <a:rPr sz="1300" b="1">
                <a:solidFill>
                  <a:srgbClr val="3FAE6A"/>
                </a:solidFill>
                <a:latin typeface="Segoe UI"/>
              </a:rPr>
              <a:t>HOW RISK IS SCORED</a:t>
            </a:r>
          </a:p>
        </p:txBody>
      </p:sp>
      <p:sp>
        <p:nvSpPr>
          <p:cNvPr id="3" name="TextBox 2"/>
          <p:cNvSpPr txBox="1"/>
          <p:nvPr/>
        </p:nvSpPr>
        <p:spPr>
          <a:xfrm>
            <a:off x="640080" y="731520"/>
            <a:ext cx="10881360" cy="822960"/>
          </a:xfrm>
          <a:prstGeom prst="rect">
            <a:avLst/>
          </a:prstGeom>
          <a:noFill/>
        </p:spPr>
        <p:txBody>
          <a:bodyPr wrap="square" anchor="t" lIns="45720" rIns="45720" tIns="18288" bIns="18288">
            <a:spAutoFit/>
          </a:bodyPr>
          <a:lstStyle/>
          <a:p>
            <a:pPr algn="l">
              <a:lnSpc>
                <a:spcPct val="110000"/>
              </a:lnSpc>
            </a:pPr>
            <a:r>
              <a:rPr sz="3400" b="1">
                <a:solidFill>
                  <a:srgbClr val="F2F5F3"/>
                </a:solidFill>
                <a:latin typeface="Segoe UI"/>
              </a:rPr>
              <a:t>The 0 to 100 risk index</a:t>
            </a:r>
          </a:p>
        </p:txBody>
      </p:sp>
      <p:sp>
        <p:nvSpPr>
          <p:cNvPr id="4" name="Rounded Rectangle 3"/>
          <p:cNvSpPr/>
          <p:nvPr/>
        </p:nvSpPr>
        <p:spPr>
          <a:xfrm>
            <a:off x="640080" y="1783080"/>
            <a:ext cx="5577840" cy="1600200"/>
          </a:xfrm>
          <a:prstGeom prst="roundRect">
            <a:avLst>
              <a:gd name="adj" fmla="val 6000"/>
            </a:avLst>
          </a:prstGeom>
          <a:solidFill>
            <a:srgbClr val="182A1F"/>
          </a:solidFill>
          <a:ln w="15875">
            <a:solidFill>
              <a:srgbClr val="2C44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920240"/>
            <a:ext cx="5303520" cy="2011680"/>
          </a:xfrm>
          <a:prstGeom prst="rect">
            <a:avLst/>
          </a:prstGeom>
          <a:noFill/>
        </p:spPr>
        <p:txBody>
          <a:bodyPr wrap="square" anchor="t" lIns="45720" rIns="45720" tIns="18288" bIns="18288">
            <a:spAutoFit/>
          </a:bodyPr>
          <a:lstStyle/>
          <a:p>
            <a:pPr algn="l">
              <a:lnSpc>
                <a:spcPct val="170000"/>
              </a:lnSpc>
            </a:pPr>
            <a:r>
              <a:rPr sz="1500" b="0">
                <a:solidFill>
                  <a:srgbClr val="F2F5F3"/>
                </a:solidFill>
                <a:latin typeface="Consolas"/>
              </a:rPr>
              <a:t>points = base × confidence × criticality</a:t>
            </a:r>
          </a:p>
          <a:p>
            <a:pPr algn="l">
              <a:lnSpc>
                <a:spcPct val="170000"/>
              </a:lnSpc>
            </a:pPr>
            <a:r>
              <a:rPr sz="1500" b="0">
                <a:solidFill>
                  <a:srgbClr val="F2F5F3"/>
                </a:solidFill>
                <a:latin typeface="Consolas"/>
              </a:rPr>
              <a:t>raw    = Σ points + inaction penalty</a:t>
            </a:r>
          </a:p>
          <a:p>
            <a:pPr algn="l">
              <a:lnSpc>
                <a:spcPct val="170000"/>
              </a:lnSpc>
            </a:pPr>
            <a:r>
              <a:rPr sz="1500" b="0">
                <a:solidFill>
                  <a:srgbClr val="F2F5F3"/>
                </a:solidFill>
                <a:latin typeface="Consolas"/>
              </a:rPr>
              <a:t>index  = 100 × (1 − e^(−raw / 60))</a:t>
            </a:r>
          </a:p>
        </p:txBody>
      </p:sp>
      <p:sp>
        <p:nvSpPr>
          <p:cNvPr id="6" name="TextBox 5"/>
          <p:cNvSpPr txBox="1"/>
          <p:nvPr/>
        </p:nvSpPr>
        <p:spPr>
          <a:xfrm>
            <a:off x="640080" y="3657600"/>
            <a:ext cx="5669280" cy="2103120"/>
          </a:xfrm>
          <a:prstGeom prst="rect">
            <a:avLst/>
          </a:prstGeom>
          <a:noFill/>
        </p:spPr>
        <p:txBody>
          <a:bodyPr wrap="square">
            <a:spAutoFit/>
          </a:bodyPr>
          <a:lstStyle/>
          <a:p>
            <a:pPr>
              <a:lnSpc>
                <a:spcPct val="110000"/>
              </a:lnSpc>
              <a:spcAft>
                <a:spcPts val="800"/>
              </a:spcAft>
            </a:pPr>
            <a:r>
              <a:rPr sz="1800">
                <a:solidFill>
                  <a:srgbClr val="3FAE6A"/>
                </a:solidFill>
                <a:latin typeface="Segoe UI"/>
              </a:rPr>
              <a:t>▪  </a:t>
            </a:r>
            <a:r>
              <a:rPr sz="1800" b="1">
                <a:solidFill>
                  <a:srgbClr val="F2F5F3"/>
                </a:solidFill>
                <a:latin typeface="Segoe UI"/>
              </a:rPr>
              <a:t>Inaction penalty: </a:t>
            </a:r>
            <a:r>
              <a:rPr sz="1800" b="0">
                <a:solidFill>
                  <a:srgbClr val="F2F5F3"/>
                </a:solidFill>
                <a:latin typeface="Segoe UI"/>
              </a:rPr>
              <a:t>+5 per hour unacknowledged, capped at +30</a:t>
            </a:r>
          </a:p>
          <a:p>
            <a:pPr>
              <a:lnSpc>
                <a:spcPct val="110000"/>
              </a:lnSpc>
              <a:spcAft>
                <a:spcPts val="800"/>
              </a:spcAft>
            </a:pPr>
            <a:r>
              <a:rPr sz="1800">
                <a:solidFill>
                  <a:srgbClr val="3FAE6A"/>
                </a:solidFill>
                <a:latin typeface="Segoe UI"/>
              </a:rPr>
              <a:t>▪  </a:t>
            </a:r>
            <a:r>
              <a:rPr sz="1800" b="1">
                <a:solidFill>
                  <a:srgbClr val="F2F5F3"/>
                </a:solidFill>
                <a:latin typeface="Segoe UI"/>
              </a:rPr>
              <a:t>Bands: </a:t>
            </a:r>
            <a:r>
              <a:rPr sz="1800" b="0">
                <a:solidFill>
                  <a:srgbClr val="3FAE6A"/>
                </a:solidFill>
                <a:latin typeface="Segoe UI"/>
              </a:rPr>
              <a:t>Green 0–29 · </a:t>
            </a:r>
            <a:r>
              <a:rPr sz="1800" b="0">
                <a:solidFill>
                  <a:srgbClr val="F2C14E"/>
                </a:solidFill>
                <a:latin typeface="Segoe UI"/>
              </a:rPr>
              <a:t>Amber 30–59 · </a:t>
            </a:r>
            <a:r>
              <a:rPr sz="1800" b="0">
                <a:solidFill>
                  <a:srgbClr val="FF7A66"/>
                </a:solidFill>
                <a:latin typeface="Segoe UI"/>
              </a:rPr>
              <a:t>Red 60–79 · </a:t>
            </a:r>
            <a:r>
              <a:rPr sz="1800" b="0">
                <a:solidFill>
                  <a:srgbClr val="E68AAE"/>
                </a:solidFill>
                <a:latin typeface="Segoe UI"/>
              </a:rPr>
              <a:t>Critical 80–100</a:t>
            </a:r>
          </a:p>
          <a:p>
            <a:pPr>
              <a:lnSpc>
                <a:spcPct val="110000"/>
              </a:lnSpc>
              <a:spcAft>
                <a:spcPts val="800"/>
              </a:spcAft>
            </a:pPr>
            <a:r>
              <a:rPr sz="1800">
                <a:solidFill>
                  <a:srgbClr val="3FAE6A"/>
                </a:solidFill>
                <a:latin typeface="Segoe UI"/>
              </a:rPr>
              <a:t>▪  </a:t>
            </a:r>
            <a:r>
              <a:rPr sz="1800" b="1">
                <a:solidFill>
                  <a:srgbClr val="F2F5F3"/>
                </a:solidFill>
                <a:latin typeface="Segoe UI"/>
              </a:rPr>
              <a:t>Threshold </a:t>
            </a:r>
            <a:r>
              <a:rPr sz="1800" b="0">
                <a:solidFill>
                  <a:srgbClr val="F2F5F3"/>
                </a:solidFill>
                <a:latin typeface="Segoe UI"/>
              </a:rPr>
              <a:t>is set by each organization</a:t>
            </a:r>
          </a:p>
        </p:txBody>
      </p:sp>
      <p:pic>
        <p:nvPicPr>
          <p:cNvPr id="7" name="Picture 6" descr="curve.png"/>
          <p:cNvPicPr>
            <a:picLocks noChangeAspect="1"/>
          </p:cNvPicPr>
          <p:nvPr/>
        </p:nvPicPr>
        <p:blipFill>
          <a:blip r:embed="rId3"/>
          <a:stretch>
            <a:fillRect/>
          </a:stretch>
        </p:blipFill>
        <p:spPr>
          <a:xfrm>
            <a:off x="6492240" y="1783080"/>
            <a:ext cx="5074920" cy="3998422"/>
          </a:xfrm>
          <a:prstGeom prst="rect">
            <a:avLst/>
          </a:prstGeom>
        </p:spPr>
      </p:pic>
      <p:sp>
        <p:nvSpPr>
          <p:cNvPr id="8" name="TextBox 7"/>
          <p:cNvSpPr txBox="1"/>
          <p:nvPr/>
        </p:nvSpPr>
        <p:spPr>
          <a:xfrm>
            <a:off x="11155680" y="6355080"/>
            <a:ext cx="457200" cy="320040"/>
          </a:xfrm>
          <a:prstGeom prst="rect">
            <a:avLst/>
          </a:prstGeom>
          <a:noFill/>
        </p:spPr>
        <p:txBody>
          <a:bodyPr wrap="square" anchor="t" lIns="45720" rIns="45720" tIns="18288" bIns="18288">
            <a:spAutoFit/>
          </a:bodyPr>
          <a:lstStyle/>
          <a:p>
            <a:pPr algn="r">
              <a:lnSpc>
                <a:spcPct val="110000"/>
              </a:lnSpc>
            </a:pPr>
            <a:r>
              <a:rPr sz="1100" b="0">
                <a:solidFill>
                  <a:srgbClr val="A9BBAF"/>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B14"/>
        </a:solidFill>
        <a:effectLst/>
      </p:bgPr>
    </p:bg>
    <p:spTree>
      <p:nvGrpSpPr>
        <p:cNvPr id="1" name=""/>
        <p:cNvGrpSpPr/>
        <p:nvPr/>
      </p:nvGrpSpPr>
      <p:grpSpPr/>
      <p:sp>
        <p:nvSpPr>
          <p:cNvPr id="2" name="TextBox 1"/>
          <p:cNvSpPr txBox="1"/>
          <p:nvPr/>
        </p:nvSpPr>
        <p:spPr>
          <a:xfrm>
            <a:off x="640080" y="411480"/>
            <a:ext cx="10058400" cy="365760"/>
          </a:xfrm>
          <a:prstGeom prst="rect">
            <a:avLst/>
          </a:prstGeom>
          <a:noFill/>
        </p:spPr>
        <p:txBody>
          <a:bodyPr wrap="square" anchor="t" lIns="45720" rIns="45720" tIns="18288" bIns="18288">
            <a:spAutoFit/>
          </a:bodyPr>
          <a:lstStyle/>
          <a:p>
            <a:pPr algn="l">
              <a:lnSpc>
                <a:spcPct val="110000"/>
              </a:lnSpc>
            </a:pPr>
            <a:r>
              <a:rPr sz="1300" b="1">
                <a:solidFill>
                  <a:srgbClr val="3FAE6A"/>
                </a:solidFill>
                <a:latin typeface="Segoe UI"/>
              </a:rPr>
              <a:t>ESCALATION OVER TIME</a:t>
            </a:r>
          </a:p>
        </p:txBody>
      </p:sp>
      <p:sp>
        <p:nvSpPr>
          <p:cNvPr id="3" name="TextBox 2"/>
          <p:cNvSpPr txBox="1"/>
          <p:nvPr/>
        </p:nvSpPr>
        <p:spPr>
          <a:xfrm>
            <a:off x="640080" y="731520"/>
            <a:ext cx="10881360" cy="822960"/>
          </a:xfrm>
          <a:prstGeom prst="rect">
            <a:avLst/>
          </a:prstGeom>
          <a:noFill/>
        </p:spPr>
        <p:txBody>
          <a:bodyPr wrap="square" anchor="t" lIns="45720" rIns="45720" tIns="18288" bIns="18288">
            <a:spAutoFit/>
          </a:bodyPr>
          <a:lstStyle/>
          <a:p>
            <a:pPr algn="l">
              <a:lnSpc>
                <a:spcPct val="110000"/>
              </a:lnSpc>
            </a:pPr>
            <a:r>
              <a:rPr sz="3400" b="1">
                <a:solidFill>
                  <a:srgbClr val="F2F5F3"/>
                </a:solidFill>
                <a:latin typeface="Segoe UI"/>
              </a:rPr>
              <a:t>Risk grows when nobody acts</a:t>
            </a:r>
          </a:p>
        </p:txBody>
      </p:sp>
      <p:pic>
        <p:nvPicPr>
          <p:cNvPr id="4" name="Picture 3" descr="escalation.png"/>
          <p:cNvPicPr>
            <a:picLocks noChangeAspect="1"/>
          </p:cNvPicPr>
          <p:nvPr/>
        </p:nvPicPr>
        <p:blipFill>
          <a:blip r:embed="rId3"/>
          <a:stretch>
            <a:fillRect/>
          </a:stretch>
        </p:blipFill>
        <p:spPr>
          <a:xfrm>
            <a:off x="4572000" y="1600200"/>
            <a:ext cx="6926580" cy="4617720"/>
          </a:xfrm>
          <a:prstGeom prst="rect">
            <a:avLst/>
          </a:prstGeom>
        </p:spPr>
      </p:pic>
      <p:sp>
        <p:nvSpPr>
          <p:cNvPr id="5" name="TextBox 4"/>
          <p:cNvSpPr txBox="1"/>
          <p:nvPr/>
        </p:nvSpPr>
        <p:spPr>
          <a:xfrm>
            <a:off x="640080" y="1828800"/>
            <a:ext cx="3749039" cy="4389120"/>
          </a:xfrm>
          <a:prstGeom prst="rect">
            <a:avLst/>
          </a:prstGeom>
          <a:noFill/>
        </p:spPr>
        <p:txBody>
          <a:bodyPr wrap="square">
            <a:spAutoFit/>
          </a:bodyPr>
          <a:lstStyle/>
          <a:p>
            <a:pPr>
              <a:lnSpc>
                <a:spcPct val="110000"/>
              </a:lnSpc>
              <a:spcAft>
                <a:spcPts val="1400"/>
              </a:spcAft>
            </a:pPr>
            <a:r>
              <a:rPr sz="1800">
                <a:solidFill>
                  <a:srgbClr val="3FAE6A"/>
                </a:solidFill>
                <a:latin typeface="Segoe UI"/>
              </a:rPr>
              <a:t>▪  </a:t>
            </a:r>
            <a:r>
              <a:rPr sz="1800" b="0">
                <a:solidFill>
                  <a:srgbClr val="F2F5F3"/>
                </a:solidFill>
                <a:latin typeface="Segoe UI"/>
              </a:rPr>
              <a:t>Brute force detected: index jumps into Amber</a:t>
            </a:r>
          </a:p>
          <a:p>
            <a:pPr>
              <a:lnSpc>
                <a:spcPct val="110000"/>
              </a:lnSpc>
              <a:spcAft>
                <a:spcPts val="1400"/>
              </a:spcAft>
            </a:pPr>
            <a:r>
              <a:rPr sz="1800">
                <a:solidFill>
                  <a:srgbClr val="3FAE6A"/>
                </a:solidFill>
                <a:latin typeface="Segoe UI"/>
              </a:rPr>
              <a:t>▪  </a:t>
            </a:r>
            <a:r>
              <a:rPr sz="1800" b="0">
                <a:solidFill>
                  <a:srgbClr val="F2F5F3"/>
                </a:solidFill>
                <a:latin typeface="Segoe UI"/>
              </a:rPr>
              <a:t>Alert delivered, no acknowledgement: +5 every hour</a:t>
            </a:r>
          </a:p>
          <a:p>
            <a:pPr>
              <a:lnSpc>
                <a:spcPct val="110000"/>
              </a:lnSpc>
              <a:spcAft>
                <a:spcPts val="1400"/>
              </a:spcAft>
            </a:pPr>
            <a:r>
              <a:rPr sz="1800">
                <a:solidFill>
                  <a:srgbClr val="3FAE6A"/>
                </a:solidFill>
                <a:latin typeface="Segoe UI"/>
              </a:rPr>
              <a:t>▪  </a:t>
            </a:r>
            <a:r>
              <a:rPr sz="1800" b="0">
                <a:solidFill>
                  <a:srgbClr val="F2F5F3"/>
                </a:solidFill>
                <a:latin typeface="Segoe UI"/>
              </a:rPr>
              <a:t>SLA (2h) breached: reminder, team lead copied</a:t>
            </a:r>
          </a:p>
          <a:p>
            <a:pPr>
              <a:lnSpc>
                <a:spcPct val="110000"/>
              </a:lnSpc>
              <a:spcAft>
                <a:spcPts val="1400"/>
              </a:spcAft>
            </a:pPr>
            <a:r>
              <a:rPr sz="1800">
                <a:solidFill>
                  <a:srgbClr val="3FAE6A"/>
                </a:solidFill>
                <a:latin typeface="Segoe UI"/>
              </a:rPr>
              <a:t>▪  </a:t>
            </a:r>
            <a:r>
              <a:rPr sz="1800" b="0">
                <a:solidFill>
                  <a:srgbClr val="F2F5F3"/>
                </a:solidFill>
                <a:latin typeface="Segoe UI"/>
              </a:rPr>
              <a:t>SQL injection lands on a neglected system: crosses 80, Needle approves a 2h block</a:t>
            </a:r>
          </a:p>
        </p:txBody>
      </p:sp>
      <p:sp>
        <p:nvSpPr>
          <p:cNvPr id="6" name="TextBox 5"/>
          <p:cNvSpPr txBox="1"/>
          <p:nvPr/>
        </p:nvSpPr>
        <p:spPr>
          <a:xfrm>
            <a:off x="11155680" y="6355080"/>
            <a:ext cx="457200" cy="320040"/>
          </a:xfrm>
          <a:prstGeom prst="rect">
            <a:avLst/>
          </a:prstGeom>
          <a:noFill/>
        </p:spPr>
        <p:txBody>
          <a:bodyPr wrap="square" anchor="t" lIns="45720" rIns="45720" tIns="18288" bIns="18288">
            <a:spAutoFit/>
          </a:bodyPr>
          <a:lstStyle/>
          <a:p>
            <a:pPr algn="r">
              <a:lnSpc>
                <a:spcPct val="110000"/>
              </a:lnSpc>
            </a:pPr>
            <a:r>
              <a:rPr sz="1100" b="0">
                <a:solidFill>
                  <a:srgbClr val="A9BBAF"/>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B14"/>
        </a:solidFill>
        <a:effectLst/>
      </p:bgPr>
    </p:bg>
    <p:spTree>
      <p:nvGrpSpPr>
        <p:cNvPr id="1" name=""/>
        <p:cNvGrpSpPr/>
        <p:nvPr/>
      </p:nvGrpSpPr>
      <p:grpSpPr/>
      <p:sp>
        <p:nvSpPr>
          <p:cNvPr id="2" name="TextBox 1"/>
          <p:cNvSpPr txBox="1"/>
          <p:nvPr/>
        </p:nvSpPr>
        <p:spPr>
          <a:xfrm>
            <a:off x="640080" y="411480"/>
            <a:ext cx="10058400" cy="365760"/>
          </a:xfrm>
          <a:prstGeom prst="rect">
            <a:avLst/>
          </a:prstGeom>
          <a:noFill/>
        </p:spPr>
        <p:txBody>
          <a:bodyPr wrap="square" anchor="t" lIns="45720" rIns="45720" tIns="18288" bIns="18288">
            <a:spAutoFit/>
          </a:bodyPr>
          <a:lstStyle/>
          <a:p>
            <a:pPr algn="l">
              <a:lnSpc>
                <a:spcPct val="110000"/>
              </a:lnSpc>
            </a:pPr>
            <a:r>
              <a:rPr sz="1300" b="1">
                <a:solidFill>
                  <a:srgbClr val="3FAE6A"/>
                </a:solidFill>
                <a:latin typeface="Segoe UI"/>
              </a:rPr>
              <a:t>WHAT YOU WILL SEE</a:t>
            </a:r>
          </a:p>
        </p:txBody>
      </p:sp>
      <p:sp>
        <p:nvSpPr>
          <p:cNvPr id="3" name="TextBox 2"/>
          <p:cNvSpPr txBox="1"/>
          <p:nvPr/>
        </p:nvSpPr>
        <p:spPr>
          <a:xfrm>
            <a:off x="640080" y="731520"/>
            <a:ext cx="10881360" cy="822960"/>
          </a:xfrm>
          <a:prstGeom prst="rect">
            <a:avLst/>
          </a:prstGeom>
          <a:noFill/>
        </p:spPr>
        <p:txBody>
          <a:bodyPr wrap="square" anchor="t" lIns="45720" rIns="45720" tIns="18288" bIns="18288">
            <a:spAutoFit/>
          </a:bodyPr>
          <a:lstStyle/>
          <a:p>
            <a:pPr algn="l">
              <a:lnSpc>
                <a:spcPct val="110000"/>
              </a:lnSpc>
            </a:pPr>
            <a:r>
              <a:rPr sz="3400" b="1">
                <a:solidFill>
                  <a:srgbClr val="F2F5F3"/>
                </a:solidFill>
                <a:latin typeface="Segoe UI"/>
              </a:rPr>
              <a:t>Live demo</a:t>
            </a:r>
          </a:p>
        </p:txBody>
      </p:sp>
      <p:sp>
        <p:nvSpPr>
          <p:cNvPr id="4" name="TextBox 3"/>
          <p:cNvSpPr txBox="1"/>
          <p:nvPr/>
        </p:nvSpPr>
        <p:spPr>
          <a:xfrm>
            <a:off x="640080" y="1828800"/>
            <a:ext cx="6583680" cy="4114800"/>
          </a:xfrm>
          <a:prstGeom prst="rect">
            <a:avLst/>
          </a:prstGeom>
          <a:noFill/>
        </p:spPr>
        <p:txBody>
          <a:bodyPr wrap="square">
            <a:spAutoFit/>
          </a:bodyPr>
          <a:lstStyle/>
          <a:p>
            <a:pPr>
              <a:lnSpc>
                <a:spcPct val="110000"/>
              </a:lnSpc>
              <a:spcAft>
                <a:spcPts val="1600"/>
              </a:spcAft>
            </a:pPr>
            <a:r>
              <a:rPr sz="2100">
                <a:solidFill>
                  <a:srgbClr val="3FAE6A"/>
                </a:solidFill>
                <a:latin typeface="Segoe UI"/>
              </a:rPr>
              <a:t>▪  </a:t>
            </a:r>
            <a:r>
              <a:rPr sz="2100" b="0">
                <a:solidFill>
                  <a:srgbClr val="F2F5F3"/>
                </a:solidFill>
                <a:latin typeface="Segoe UI"/>
              </a:rPr>
              <a:t>Lab student portal with synthetic member data, all on localhost</a:t>
            </a:r>
          </a:p>
          <a:p>
            <a:pPr>
              <a:lnSpc>
                <a:spcPct val="110000"/>
              </a:lnSpc>
              <a:spcAft>
                <a:spcPts val="1600"/>
              </a:spcAft>
            </a:pPr>
            <a:r>
              <a:rPr sz="2100">
                <a:solidFill>
                  <a:srgbClr val="3FAE6A"/>
                </a:solidFill>
                <a:latin typeface="Segoe UI"/>
              </a:rPr>
              <a:t>▪  </a:t>
            </a:r>
            <a:r>
              <a:rPr sz="2100" b="0">
                <a:solidFill>
                  <a:srgbClr val="F2F5F3"/>
                </a:solidFill>
                <a:latin typeface="Segoe UI"/>
              </a:rPr>
              <a:t>Brute force → classified → operator alert ignored</a:t>
            </a:r>
          </a:p>
          <a:p>
            <a:pPr>
              <a:lnSpc>
                <a:spcPct val="110000"/>
              </a:lnSpc>
              <a:spcAft>
                <a:spcPts val="1600"/>
              </a:spcAft>
            </a:pPr>
            <a:r>
              <a:rPr sz="2100">
                <a:solidFill>
                  <a:srgbClr val="3FAE6A"/>
                </a:solidFill>
                <a:latin typeface="Segoe UI"/>
              </a:rPr>
              <a:t>▪  </a:t>
            </a:r>
            <a:r>
              <a:rPr sz="2100" b="0">
                <a:solidFill>
                  <a:srgbClr val="F2F5F3"/>
                </a:solidFill>
                <a:latin typeface="Segoe UI"/>
              </a:rPr>
              <a:t>Inaction penalty climbs → SQL injection → crosses 80</a:t>
            </a:r>
          </a:p>
          <a:p>
            <a:pPr>
              <a:lnSpc>
                <a:spcPct val="110000"/>
              </a:lnSpc>
              <a:spcAft>
                <a:spcPts val="1600"/>
              </a:spcAft>
            </a:pPr>
            <a:r>
              <a:rPr sz="2100">
                <a:solidFill>
                  <a:srgbClr val="3FAE6A"/>
                </a:solidFill>
                <a:latin typeface="Segoe UI"/>
              </a:rPr>
              <a:t>▪  </a:t>
            </a:r>
            <a:r>
              <a:rPr sz="2100" b="0">
                <a:solidFill>
                  <a:srgbClr val="F2F5F3"/>
                </a:solidFill>
                <a:latin typeface="Segoe UI"/>
              </a:rPr>
              <a:t>Needle approves → IP blocked for 2h → evidence report → a human decides</a:t>
            </a:r>
          </a:p>
        </p:txBody>
      </p:sp>
      <p:pic>
        <p:nvPicPr>
          <p:cNvPr id="5" name="Picture 4" descr="gauge.png"/>
          <p:cNvPicPr>
            <a:picLocks noChangeAspect="1"/>
          </p:cNvPicPr>
          <p:nvPr/>
        </p:nvPicPr>
        <p:blipFill>
          <a:blip r:embed="rId3"/>
          <a:stretch>
            <a:fillRect/>
          </a:stretch>
        </p:blipFill>
        <p:spPr>
          <a:xfrm>
            <a:off x="7680960" y="1828800"/>
            <a:ext cx="3931920" cy="3548620"/>
          </a:xfrm>
          <a:prstGeom prst="rect">
            <a:avLst/>
          </a:prstGeom>
        </p:spPr>
      </p:pic>
      <p:sp>
        <p:nvSpPr>
          <p:cNvPr id="6" name="TextBox 5"/>
          <p:cNvSpPr txBox="1"/>
          <p:nvPr/>
        </p:nvSpPr>
        <p:spPr>
          <a:xfrm>
            <a:off x="11155680" y="6355080"/>
            <a:ext cx="457200" cy="320040"/>
          </a:xfrm>
          <a:prstGeom prst="rect">
            <a:avLst/>
          </a:prstGeom>
          <a:noFill/>
        </p:spPr>
        <p:txBody>
          <a:bodyPr wrap="square" anchor="t" lIns="45720" rIns="45720" tIns="18288" bIns="18288">
            <a:spAutoFit/>
          </a:bodyPr>
          <a:lstStyle/>
          <a:p>
            <a:pPr algn="r">
              <a:lnSpc>
                <a:spcPct val="110000"/>
              </a:lnSpc>
            </a:pPr>
            <a:r>
              <a:rPr sz="1100" b="0">
                <a:solidFill>
                  <a:srgbClr val="A9BBAF"/>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B14"/>
        </a:solidFill>
        <a:effectLst/>
      </p:bgPr>
    </p:bg>
    <p:spTree>
      <p:nvGrpSpPr>
        <p:cNvPr id="1" name=""/>
        <p:cNvGrpSpPr/>
        <p:nvPr/>
      </p:nvGrpSpPr>
      <p:grpSpPr/>
      <p:sp>
        <p:nvSpPr>
          <p:cNvPr id="2" name="TextBox 1"/>
          <p:cNvSpPr txBox="1"/>
          <p:nvPr/>
        </p:nvSpPr>
        <p:spPr>
          <a:xfrm>
            <a:off x="640080" y="411480"/>
            <a:ext cx="10058400" cy="365760"/>
          </a:xfrm>
          <a:prstGeom prst="rect">
            <a:avLst/>
          </a:prstGeom>
          <a:noFill/>
        </p:spPr>
        <p:txBody>
          <a:bodyPr wrap="square" anchor="t" lIns="45720" rIns="45720" tIns="18288" bIns="18288">
            <a:spAutoFit/>
          </a:bodyPr>
          <a:lstStyle/>
          <a:p>
            <a:pPr algn="l">
              <a:lnSpc>
                <a:spcPct val="110000"/>
              </a:lnSpc>
            </a:pPr>
            <a:r>
              <a:rPr sz="1300" b="1">
                <a:solidFill>
                  <a:srgbClr val="3FAE6A"/>
                </a:solidFill>
                <a:latin typeface="Segoe UI"/>
              </a:rPr>
              <a:t>FOR LEADERSHIP</a:t>
            </a:r>
          </a:p>
        </p:txBody>
      </p:sp>
      <p:sp>
        <p:nvSpPr>
          <p:cNvPr id="3" name="TextBox 2"/>
          <p:cNvSpPr txBox="1"/>
          <p:nvPr/>
        </p:nvSpPr>
        <p:spPr>
          <a:xfrm>
            <a:off x="640080" y="731520"/>
            <a:ext cx="10881360" cy="822960"/>
          </a:xfrm>
          <a:prstGeom prst="rect">
            <a:avLst/>
          </a:prstGeom>
          <a:noFill/>
        </p:spPr>
        <p:txBody>
          <a:bodyPr wrap="square" anchor="t" lIns="45720" rIns="45720" tIns="18288" bIns="18288">
            <a:spAutoFit/>
          </a:bodyPr>
          <a:lstStyle/>
          <a:p>
            <a:pPr algn="l">
              <a:lnSpc>
                <a:spcPct val="110000"/>
              </a:lnSpc>
            </a:pPr>
            <a:r>
              <a:rPr sz="3400" b="1">
                <a:solidFill>
                  <a:srgbClr val="F2F5F3"/>
                </a:solidFill>
                <a:latin typeface="Segoe UI"/>
              </a:rPr>
              <a:t>The Security Evidence Report</a:t>
            </a:r>
          </a:p>
        </p:txBody>
      </p:sp>
      <p:sp>
        <p:nvSpPr>
          <p:cNvPr id="4" name="Rounded Rectangle 3"/>
          <p:cNvSpPr/>
          <p:nvPr/>
        </p:nvSpPr>
        <p:spPr>
          <a:xfrm>
            <a:off x="640080" y="1783080"/>
            <a:ext cx="10881360" cy="3246120"/>
          </a:xfrm>
          <a:prstGeom prst="roundRect">
            <a:avLst>
              <a:gd name="adj" fmla="val 6000"/>
            </a:avLst>
          </a:prstGeom>
          <a:solidFill>
            <a:srgbClr val="182A1F"/>
          </a:solidFill>
          <a:ln w="15875">
            <a:solidFill>
              <a:srgbClr val="2C44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965960"/>
            <a:ext cx="3017520" cy="457200"/>
          </a:xfrm>
          <a:prstGeom prst="rect">
            <a:avLst/>
          </a:prstGeom>
          <a:noFill/>
        </p:spPr>
        <p:txBody>
          <a:bodyPr wrap="square" anchor="t" lIns="45720" rIns="45720" tIns="18288" bIns="18288">
            <a:spAutoFit/>
          </a:bodyPr>
          <a:lstStyle/>
          <a:p>
            <a:pPr algn="l">
              <a:lnSpc>
                <a:spcPct val="110000"/>
              </a:lnSpc>
            </a:pPr>
            <a:r>
              <a:rPr sz="1800" b="0">
                <a:solidFill>
                  <a:srgbClr val="A9BBAF"/>
                </a:solidFill>
                <a:latin typeface="Segoe UI"/>
              </a:rPr>
              <a:t>Responsible entity</a:t>
            </a:r>
          </a:p>
        </p:txBody>
      </p:sp>
      <p:sp>
        <p:nvSpPr>
          <p:cNvPr id="6" name="TextBox 5"/>
          <p:cNvSpPr txBox="1"/>
          <p:nvPr/>
        </p:nvSpPr>
        <p:spPr>
          <a:xfrm>
            <a:off x="4023360" y="1965960"/>
            <a:ext cx="7315200" cy="457200"/>
          </a:xfrm>
          <a:prstGeom prst="rect">
            <a:avLst/>
          </a:prstGeom>
          <a:noFill/>
        </p:spPr>
        <p:txBody>
          <a:bodyPr wrap="square" anchor="t" lIns="45720" rIns="45720" tIns="18288" bIns="18288">
            <a:spAutoFit/>
          </a:bodyPr>
          <a:lstStyle/>
          <a:p>
            <a:pPr algn="l">
              <a:lnSpc>
                <a:spcPct val="110000"/>
              </a:lnSpc>
            </a:pPr>
            <a:r>
              <a:rPr sz="1800" b="0">
                <a:solidFill>
                  <a:srgbClr val="F2F5F3"/>
                </a:solidFill>
                <a:latin typeface="Segoe UI"/>
              </a:rPr>
              <a:t>On-duty operator and shift</a:t>
            </a:r>
          </a:p>
        </p:txBody>
      </p:sp>
      <p:sp>
        <p:nvSpPr>
          <p:cNvPr id="7" name="TextBox 6"/>
          <p:cNvSpPr txBox="1"/>
          <p:nvPr/>
        </p:nvSpPr>
        <p:spPr>
          <a:xfrm>
            <a:off x="960120" y="2560320"/>
            <a:ext cx="3017520" cy="457200"/>
          </a:xfrm>
          <a:prstGeom prst="rect">
            <a:avLst/>
          </a:prstGeom>
          <a:noFill/>
        </p:spPr>
        <p:txBody>
          <a:bodyPr wrap="square" anchor="t" lIns="45720" rIns="45720" tIns="18288" bIns="18288">
            <a:spAutoFit/>
          </a:bodyPr>
          <a:lstStyle/>
          <a:p>
            <a:pPr algn="l">
              <a:lnSpc>
                <a:spcPct val="110000"/>
              </a:lnSpc>
            </a:pPr>
            <a:r>
              <a:rPr sz="1800" b="0">
                <a:solidFill>
                  <a:srgbClr val="A9BBAF"/>
                </a:solidFill>
                <a:latin typeface="Segoe UI"/>
              </a:rPr>
              <a:t>SLA violation</a:t>
            </a:r>
          </a:p>
        </p:txBody>
      </p:sp>
      <p:sp>
        <p:nvSpPr>
          <p:cNvPr id="8" name="TextBox 7"/>
          <p:cNvSpPr txBox="1"/>
          <p:nvPr/>
        </p:nvSpPr>
        <p:spPr>
          <a:xfrm>
            <a:off x="4023360" y="2560320"/>
            <a:ext cx="7315200" cy="457200"/>
          </a:xfrm>
          <a:prstGeom prst="rect">
            <a:avLst/>
          </a:prstGeom>
          <a:noFill/>
        </p:spPr>
        <p:txBody>
          <a:bodyPr wrap="square" anchor="t" lIns="45720" rIns="45720" tIns="18288" bIns="18288">
            <a:spAutoFit/>
          </a:bodyPr>
          <a:lstStyle/>
          <a:p>
            <a:pPr algn="l">
              <a:lnSpc>
                <a:spcPct val="110000"/>
              </a:lnSpc>
            </a:pPr>
            <a:r>
              <a:rPr sz="1800" b="1">
                <a:solidFill>
                  <a:srgbClr val="F2C14E"/>
                </a:solidFill>
                <a:latin typeface="Segoe UI"/>
              </a:rPr>
              <a:t>Overdue by 4h 30m (policy 2h)</a:t>
            </a:r>
          </a:p>
        </p:txBody>
      </p:sp>
      <p:sp>
        <p:nvSpPr>
          <p:cNvPr id="9" name="TextBox 8"/>
          <p:cNvSpPr txBox="1"/>
          <p:nvPr/>
        </p:nvSpPr>
        <p:spPr>
          <a:xfrm>
            <a:off x="960120" y="3154680"/>
            <a:ext cx="3017520" cy="457200"/>
          </a:xfrm>
          <a:prstGeom prst="rect">
            <a:avLst/>
          </a:prstGeom>
          <a:noFill/>
        </p:spPr>
        <p:txBody>
          <a:bodyPr wrap="square" anchor="t" lIns="45720" rIns="45720" tIns="18288" bIns="18288">
            <a:spAutoFit/>
          </a:bodyPr>
          <a:lstStyle/>
          <a:p>
            <a:pPr algn="l">
              <a:lnSpc>
                <a:spcPct val="110000"/>
              </a:lnSpc>
            </a:pPr>
            <a:r>
              <a:rPr sz="1800" b="0">
                <a:solidFill>
                  <a:srgbClr val="A9BBAF"/>
                </a:solidFill>
                <a:latin typeface="Segoe UI"/>
              </a:rPr>
              <a:t>Timeline</a:t>
            </a:r>
          </a:p>
        </p:txBody>
      </p:sp>
      <p:sp>
        <p:nvSpPr>
          <p:cNvPr id="10" name="TextBox 9"/>
          <p:cNvSpPr txBox="1"/>
          <p:nvPr/>
        </p:nvSpPr>
        <p:spPr>
          <a:xfrm>
            <a:off x="4023360" y="3154680"/>
            <a:ext cx="7315200" cy="457200"/>
          </a:xfrm>
          <a:prstGeom prst="rect">
            <a:avLst/>
          </a:prstGeom>
          <a:noFill/>
        </p:spPr>
        <p:txBody>
          <a:bodyPr wrap="square" anchor="t" lIns="45720" rIns="45720" tIns="18288" bIns="18288">
            <a:spAutoFit/>
          </a:bodyPr>
          <a:lstStyle/>
          <a:p>
            <a:pPr algn="l">
              <a:lnSpc>
                <a:spcPct val="110000"/>
              </a:lnSpc>
            </a:pPr>
            <a:r>
              <a:rPr sz="1800" b="0">
                <a:solidFill>
                  <a:srgbClr val="F2F5F3"/>
                </a:solidFill>
                <a:latin typeface="Segoe UI"/>
              </a:rPr>
              <a:t>Detected → alert delivered → reminder → threshold crossed</a:t>
            </a:r>
          </a:p>
        </p:txBody>
      </p:sp>
      <p:sp>
        <p:nvSpPr>
          <p:cNvPr id="11" name="TextBox 10"/>
          <p:cNvSpPr txBox="1"/>
          <p:nvPr/>
        </p:nvSpPr>
        <p:spPr>
          <a:xfrm>
            <a:off x="960120" y="3749040"/>
            <a:ext cx="3017520" cy="457200"/>
          </a:xfrm>
          <a:prstGeom prst="rect">
            <a:avLst/>
          </a:prstGeom>
          <a:noFill/>
        </p:spPr>
        <p:txBody>
          <a:bodyPr wrap="square" anchor="t" lIns="45720" rIns="45720" tIns="18288" bIns="18288">
            <a:spAutoFit/>
          </a:bodyPr>
          <a:lstStyle/>
          <a:p>
            <a:pPr algn="l">
              <a:lnSpc>
                <a:spcPct val="110000"/>
              </a:lnSpc>
            </a:pPr>
            <a:r>
              <a:rPr sz="1800" b="0">
                <a:solidFill>
                  <a:srgbClr val="A9BBAF"/>
                </a:solidFill>
                <a:latin typeface="Segoe UI"/>
              </a:rPr>
              <a:t>Acknowledgement</a:t>
            </a:r>
          </a:p>
        </p:txBody>
      </p:sp>
      <p:sp>
        <p:nvSpPr>
          <p:cNvPr id="12" name="TextBox 11"/>
          <p:cNvSpPr txBox="1"/>
          <p:nvPr/>
        </p:nvSpPr>
        <p:spPr>
          <a:xfrm>
            <a:off x="4023360" y="3749040"/>
            <a:ext cx="7315200" cy="457200"/>
          </a:xfrm>
          <a:prstGeom prst="rect">
            <a:avLst/>
          </a:prstGeom>
          <a:noFill/>
        </p:spPr>
        <p:txBody>
          <a:bodyPr wrap="square" anchor="t" lIns="45720" rIns="45720" tIns="18288" bIns="18288">
            <a:spAutoFit/>
          </a:bodyPr>
          <a:lstStyle/>
          <a:p>
            <a:pPr algn="l">
              <a:lnSpc>
                <a:spcPct val="110000"/>
              </a:lnSpc>
            </a:pPr>
            <a:r>
              <a:rPr sz="1800" b="1">
                <a:solidFill>
                  <a:srgbClr val="FF7A66"/>
                </a:solidFill>
                <a:latin typeface="Segoe UI"/>
              </a:rPr>
              <a:t>Ack: none</a:t>
            </a:r>
          </a:p>
        </p:txBody>
      </p:sp>
      <p:sp>
        <p:nvSpPr>
          <p:cNvPr id="13" name="TextBox 12"/>
          <p:cNvSpPr txBox="1"/>
          <p:nvPr/>
        </p:nvSpPr>
        <p:spPr>
          <a:xfrm>
            <a:off x="960120" y="4343400"/>
            <a:ext cx="3017520" cy="457200"/>
          </a:xfrm>
          <a:prstGeom prst="rect">
            <a:avLst/>
          </a:prstGeom>
          <a:noFill/>
        </p:spPr>
        <p:txBody>
          <a:bodyPr wrap="square" anchor="t" lIns="45720" rIns="45720" tIns="18288" bIns="18288">
            <a:spAutoFit/>
          </a:bodyPr>
          <a:lstStyle/>
          <a:p>
            <a:pPr algn="l">
              <a:lnSpc>
                <a:spcPct val="110000"/>
              </a:lnSpc>
            </a:pPr>
            <a:r>
              <a:rPr sz="1800" b="0">
                <a:solidFill>
                  <a:srgbClr val="A9BBAF"/>
                </a:solidFill>
                <a:latin typeface="Segoe UI"/>
              </a:rPr>
              <a:t>Forced action</a:t>
            </a:r>
          </a:p>
        </p:txBody>
      </p:sp>
      <p:sp>
        <p:nvSpPr>
          <p:cNvPr id="14" name="TextBox 13"/>
          <p:cNvSpPr txBox="1"/>
          <p:nvPr/>
        </p:nvSpPr>
        <p:spPr>
          <a:xfrm>
            <a:off x="4023360" y="4343400"/>
            <a:ext cx="7315200" cy="457200"/>
          </a:xfrm>
          <a:prstGeom prst="rect">
            <a:avLst/>
          </a:prstGeom>
          <a:noFill/>
        </p:spPr>
        <p:txBody>
          <a:bodyPr wrap="square" anchor="t" lIns="45720" rIns="45720" tIns="18288" bIns="18288">
            <a:spAutoFit/>
          </a:bodyPr>
          <a:lstStyle/>
          <a:p>
            <a:pPr algn="l">
              <a:lnSpc>
                <a:spcPct val="110000"/>
              </a:lnSpc>
            </a:pPr>
            <a:r>
              <a:rPr sz="1800" b="0">
                <a:solidFill>
                  <a:srgbClr val="F2F5F3"/>
                </a:solidFill>
                <a:latin typeface="Segoe UI"/>
              </a:rPr>
              <a:t>IP blocked, 2h expiry, approved by Needle</a:t>
            </a:r>
          </a:p>
        </p:txBody>
      </p:sp>
      <p:sp>
        <p:nvSpPr>
          <p:cNvPr id="15" name="Rounded Rectangle 14"/>
          <p:cNvSpPr/>
          <p:nvPr/>
        </p:nvSpPr>
        <p:spPr>
          <a:xfrm>
            <a:off x="640080" y="5303520"/>
            <a:ext cx="2834640" cy="685800"/>
          </a:xfrm>
          <a:prstGeom prst="roundRect">
            <a:avLst>
              <a:gd name="adj" fmla="val 6000"/>
            </a:avLst>
          </a:prstGeom>
          <a:noFill/>
          <a:ln w="15875">
            <a:solidFill>
              <a:srgbClr val="3FA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5303520"/>
            <a:ext cx="2834640" cy="685800"/>
          </a:xfrm>
          <a:prstGeom prst="rect">
            <a:avLst/>
          </a:prstGeom>
          <a:noFill/>
        </p:spPr>
        <p:txBody>
          <a:bodyPr wrap="square" anchor="ctr" lIns="45720" rIns="45720" tIns="18288" bIns="18288">
            <a:spAutoFit/>
          </a:bodyPr>
          <a:lstStyle/>
          <a:p>
            <a:pPr algn="ctr">
              <a:lnSpc>
                <a:spcPct val="110000"/>
              </a:lnSpc>
            </a:pPr>
            <a:r>
              <a:rPr sz="1500" b="0">
                <a:solidFill>
                  <a:srgbClr val="F2F5F3"/>
                </a:solidFill>
                <a:latin typeface="Segoe UI"/>
              </a:rPr>
              <a:t>#41 alert delivered</a:t>
            </a:r>
          </a:p>
        </p:txBody>
      </p:sp>
      <p:sp>
        <p:nvSpPr>
          <p:cNvPr id="17" name="TextBox 16"/>
          <p:cNvSpPr txBox="1"/>
          <p:nvPr/>
        </p:nvSpPr>
        <p:spPr>
          <a:xfrm>
            <a:off x="3474720" y="5349240"/>
            <a:ext cx="411480" cy="548640"/>
          </a:xfrm>
          <a:prstGeom prst="rect">
            <a:avLst/>
          </a:prstGeom>
          <a:noFill/>
        </p:spPr>
        <p:txBody>
          <a:bodyPr wrap="square" anchor="t" lIns="45720" rIns="45720" tIns="18288" bIns="18288">
            <a:spAutoFit/>
          </a:bodyPr>
          <a:lstStyle/>
          <a:p>
            <a:pPr algn="ctr">
              <a:lnSpc>
                <a:spcPct val="110000"/>
              </a:lnSpc>
            </a:pPr>
            <a:r>
              <a:rPr sz="2200" b="0">
                <a:solidFill>
                  <a:srgbClr val="A9BBAF"/>
                </a:solidFill>
                <a:latin typeface="Segoe UI"/>
              </a:rPr>
              <a:t>→</a:t>
            </a:r>
          </a:p>
        </p:txBody>
      </p:sp>
      <p:sp>
        <p:nvSpPr>
          <p:cNvPr id="18" name="Rounded Rectangle 17"/>
          <p:cNvSpPr/>
          <p:nvPr/>
        </p:nvSpPr>
        <p:spPr>
          <a:xfrm>
            <a:off x="3886200" y="5303520"/>
            <a:ext cx="2834640" cy="685800"/>
          </a:xfrm>
          <a:prstGeom prst="roundRect">
            <a:avLst>
              <a:gd name="adj" fmla="val 6000"/>
            </a:avLst>
          </a:prstGeom>
          <a:noFill/>
          <a:ln w="15875">
            <a:solidFill>
              <a:srgbClr val="3FA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86200" y="5303520"/>
            <a:ext cx="2834640" cy="685800"/>
          </a:xfrm>
          <a:prstGeom prst="rect">
            <a:avLst/>
          </a:prstGeom>
          <a:noFill/>
        </p:spPr>
        <p:txBody>
          <a:bodyPr wrap="square" anchor="ctr" lIns="45720" rIns="45720" tIns="18288" bIns="18288">
            <a:spAutoFit/>
          </a:bodyPr>
          <a:lstStyle/>
          <a:p>
            <a:pPr algn="ctr">
              <a:lnSpc>
                <a:spcPct val="110000"/>
              </a:lnSpc>
            </a:pPr>
            <a:r>
              <a:rPr sz="1500" b="0">
                <a:solidFill>
                  <a:srgbClr val="F2F5F3"/>
                </a:solidFill>
                <a:latin typeface="Segoe UI"/>
              </a:rPr>
              <a:t>#42 Needle approved</a:t>
            </a:r>
          </a:p>
        </p:txBody>
      </p:sp>
      <p:sp>
        <p:nvSpPr>
          <p:cNvPr id="20" name="TextBox 19"/>
          <p:cNvSpPr txBox="1"/>
          <p:nvPr/>
        </p:nvSpPr>
        <p:spPr>
          <a:xfrm>
            <a:off x="6720840" y="5349240"/>
            <a:ext cx="411480" cy="548640"/>
          </a:xfrm>
          <a:prstGeom prst="rect">
            <a:avLst/>
          </a:prstGeom>
          <a:noFill/>
        </p:spPr>
        <p:txBody>
          <a:bodyPr wrap="square" anchor="t" lIns="45720" rIns="45720" tIns="18288" bIns="18288">
            <a:spAutoFit/>
          </a:bodyPr>
          <a:lstStyle/>
          <a:p>
            <a:pPr algn="ctr">
              <a:lnSpc>
                <a:spcPct val="110000"/>
              </a:lnSpc>
            </a:pPr>
            <a:r>
              <a:rPr sz="2200" b="0">
                <a:solidFill>
                  <a:srgbClr val="A9BBAF"/>
                </a:solidFill>
                <a:latin typeface="Segoe UI"/>
              </a:rPr>
              <a:t>→</a:t>
            </a:r>
          </a:p>
        </p:txBody>
      </p:sp>
      <p:sp>
        <p:nvSpPr>
          <p:cNvPr id="21" name="Rounded Rectangle 20"/>
          <p:cNvSpPr/>
          <p:nvPr/>
        </p:nvSpPr>
        <p:spPr>
          <a:xfrm>
            <a:off x="7132320" y="5303520"/>
            <a:ext cx="2834640" cy="685800"/>
          </a:xfrm>
          <a:prstGeom prst="roundRect">
            <a:avLst>
              <a:gd name="adj" fmla="val 6000"/>
            </a:avLst>
          </a:prstGeom>
          <a:noFill/>
          <a:ln w="15875">
            <a:solidFill>
              <a:srgbClr val="3FA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0" y="5303520"/>
            <a:ext cx="2834640" cy="685800"/>
          </a:xfrm>
          <a:prstGeom prst="rect">
            <a:avLst/>
          </a:prstGeom>
          <a:noFill/>
        </p:spPr>
        <p:txBody>
          <a:bodyPr wrap="square" anchor="ctr" lIns="45720" rIns="45720" tIns="18288" bIns="18288">
            <a:spAutoFit/>
          </a:bodyPr>
          <a:lstStyle/>
          <a:p>
            <a:pPr algn="ctr">
              <a:lnSpc>
                <a:spcPct val="110000"/>
              </a:lnSpc>
            </a:pPr>
            <a:r>
              <a:rPr sz="1500" b="0">
                <a:solidFill>
                  <a:srgbClr val="F2F5F3"/>
                </a:solidFill>
                <a:latin typeface="Segoe UI"/>
              </a:rPr>
              <a:t>#43 operator rollback</a:t>
            </a:r>
          </a:p>
        </p:txBody>
      </p:sp>
      <p:sp>
        <p:nvSpPr>
          <p:cNvPr id="23" name="TextBox 22"/>
          <p:cNvSpPr txBox="1"/>
          <p:nvPr/>
        </p:nvSpPr>
        <p:spPr>
          <a:xfrm>
            <a:off x="10287000" y="5303520"/>
            <a:ext cx="1737360" cy="685800"/>
          </a:xfrm>
          <a:prstGeom prst="rect">
            <a:avLst/>
          </a:prstGeom>
          <a:noFill/>
        </p:spPr>
        <p:txBody>
          <a:bodyPr wrap="square" anchor="ctr" lIns="45720" rIns="45720" tIns="18288" bIns="18288">
            <a:spAutoFit/>
          </a:bodyPr>
          <a:lstStyle/>
          <a:p>
            <a:pPr algn="l">
              <a:lnSpc>
                <a:spcPct val="110000"/>
              </a:lnSpc>
            </a:pPr>
            <a:r>
              <a:rPr sz="1500" b="1">
                <a:solidFill>
                  <a:srgbClr val="3FAE6A"/>
                </a:solidFill>
                <a:latin typeface="Segoe UI"/>
              </a:rPr>
              <a:t>✔ chain valid</a:t>
            </a:r>
          </a:p>
        </p:txBody>
      </p:sp>
      <p:sp>
        <p:nvSpPr>
          <p:cNvPr id="24" name="TextBox 23"/>
          <p:cNvSpPr txBox="1"/>
          <p:nvPr/>
        </p:nvSpPr>
        <p:spPr>
          <a:xfrm>
            <a:off x="11155680" y="6355080"/>
            <a:ext cx="457200" cy="320040"/>
          </a:xfrm>
          <a:prstGeom prst="rect">
            <a:avLst/>
          </a:prstGeom>
          <a:noFill/>
        </p:spPr>
        <p:txBody>
          <a:bodyPr wrap="square" anchor="t" lIns="45720" rIns="45720" tIns="18288" bIns="18288">
            <a:spAutoFit/>
          </a:bodyPr>
          <a:lstStyle/>
          <a:p>
            <a:pPr algn="r">
              <a:lnSpc>
                <a:spcPct val="110000"/>
              </a:lnSpc>
            </a:pPr>
            <a:r>
              <a:rPr sz="1100" b="0">
                <a:solidFill>
                  <a:srgbClr val="A9BBAF"/>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B14"/>
        </a:solidFill>
        <a:effectLst/>
      </p:bgPr>
    </p:bg>
    <p:spTree>
      <p:nvGrpSpPr>
        <p:cNvPr id="1" name=""/>
        <p:cNvGrpSpPr/>
        <p:nvPr/>
      </p:nvGrpSpPr>
      <p:grpSpPr/>
      <p:sp>
        <p:nvSpPr>
          <p:cNvPr id="2" name="TextBox 1"/>
          <p:cNvSpPr txBox="1"/>
          <p:nvPr/>
        </p:nvSpPr>
        <p:spPr>
          <a:xfrm>
            <a:off x="640080" y="411480"/>
            <a:ext cx="10058400" cy="365760"/>
          </a:xfrm>
          <a:prstGeom prst="rect">
            <a:avLst/>
          </a:prstGeom>
          <a:noFill/>
        </p:spPr>
        <p:txBody>
          <a:bodyPr wrap="square" anchor="t" lIns="45720" rIns="45720" tIns="18288" bIns="18288">
            <a:spAutoFit/>
          </a:bodyPr>
          <a:lstStyle/>
          <a:p>
            <a:pPr algn="l">
              <a:lnSpc>
                <a:spcPct val="110000"/>
              </a:lnSpc>
            </a:pPr>
            <a:r>
              <a:rPr sz="1300" b="1">
                <a:solidFill>
                  <a:srgbClr val="3FAE6A"/>
                </a:solidFill>
                <a:latin typeface="Segoe UI"/>
              </a:rPr>
              <a:t>IT HOLDS THE LINE AND NEVER CROSSES IT</a:t>
            </a:r>
          </a:p>
        </p:txBody>
      </p:sp>
      <p:sp>
        <p:nvSpPr>
          <p:cNvPr id="3" name="TextBox 2"/>
          <p:cNvSpPr txBox="1"/>
          <p:nvPr/>
        </p:nvSpPr>
        <p:spPr>
          <a:xfrm>
            <a:off x="640080" y="731520"/>
            <a:ext cx="10881360" cy="822960"/>
          </a:xfrm>
          <a:prstGeom prst="rect">
            <a:avLst/>
          </a:prstGeom>
          <a:noFill/>
        </p:spPr>
        <p:txBody>
          <a:bodyPr wrap="square" anchor="t" lIns="45720" rIns="45720" tIns="18288" bIns="18288">
            <a:spAutoFit/>
          </a:bodyPr>
          <a:lstStyle/>
          <a:p>
            <a:pPr algn="l">
              <a:lnSpc>
                <a:spcPct val="110000"/>
              </a:lnSpc>
            </a:pPr>
            <a:r>
              <a:rPr sz="3400" b="1">
                <a:solidFill>
                  <a:srgbClr val="F2F5F3"/>
                </a:solidFill>
                <a:latin typeface="Segoe UI"/>
              </a:rPr>
              <a:t>Ethics: no hack back</a:t>
            </a:r>
          </a:p>
        </p:txBody>
      </p:sp>
      <p:sp>
        <p:nvSpPr>
          <p:cNvPr id="4" name="TextBox 3"/>
          <p:cNvSpPr txBox="1"/>
          <p:nvPr/>
        </p:nvSpPr>
        <p:spPr>
          <a:xfrm>
            <a:off x="640080" y="1828800"/>
            <a:ext cx="6675120" cy="4206240"/>
          </a:xfrm>
          <a:prstGeom prst="rect">
            <a:avLst/>
          </a:prstGeom>
          <a:noFill/>
        </p:spPr>
        <p:txBody>
          <a:bodyPr wrap="square">
            <a:spAutoFit/>
          </a:bodyPr>
          <a:lstStyle/>
          <a:p>
            <a:pPr>
              <a:lnSpc>
                <a:spcPct val="110000"/>
              </a:lnSpc>
              <a:spcAft>
                <a:spcPts val="1600"/>
              </a:spcAft>
            </a:pPr>
            <a:r>
              <a:rPr sz="2000">
                <a:solidFill>
                  <a:srgbClr val="3FAE6A"/>
                </a:solidFill>
                <a:latin typeface="Segoe UI"/>
              </a:rPr>
              <a:t>▪  </a:t>
            </a:r>
            <a:r>
              <a:rPr sz="2000" b="1">
                <a:solidFill>
                  <a:srgbClr val="F2F5F3"/>
                </a:solidFill>
                <a:latin typeface="Segoe UI"/>
              </a:rPr>
              <a:t>SentrAI never attacks back.</a:t>
            </a:r>
          </a:p>
          <a:p>
            <a:pPr>
              <a:lnSpc>
                <a:spcPct val="110000"/>
              </a:lnSpc>
              <a:spcAft>
                <a:spcPts val="1600"/>
              </a:spcAft>
            </a:pPr>
            <a:r>
              <a:rPr sz="2000">
                <a:solidFill>
                  <a:srgbClr val="3FAE6A"/>
                </a:solidFill>
                <a:latin typeface="Segoe UI"/>
              </a:rPr>
              <a:t>▪  </a:t>
            </a:r>
            <a:r>
              <a:rPr sz="2000" b="0">
                <a:solidFill>
                  <a:srgbClr val="F2F5F3"/>
                </a:solidFill>
                <a:latin typeface="Segoe UI"/>
              </a:rPr>
              <a:t>Hacking back is a crime in Singapore: Computer Misuse Act s3 (access), s5 (modification), s7 (obstruction)</a:t>
            </a:r>
          </a:p>
          <a:p>
            <a:pPr>
              <a:lnSpc>
                <a:spcPct val="110000"/>
              </a:lnSpc>
              <a:spcAft>
                <a:spcPts val="1600"/>
              </a:spcAft>
            </a:pPr>
            <a:r>
              <a:rPr sz="2000">
                <a:solidFill>
                  <a:srgbClr val="3FAE6A"/>
                </a:solidFill>
                <a:latin typeface="Segoe UI"/>
              </a:rPr>
              <a:t>▪  </a:t>
            </a:r>
            <a:r>
              <a:rPr sz="2000" b="0">
                <a:solidFill>
                  <a:srgbClr val="F2F5F3"/>
                </a:solidFill>
                <a:latin typeface="Segoe UI"/>
              </a:rPr>
              <a:t>Attacker IPs are often spoofed or hijacked innocent machines</a:t>
            </a:r>
          </a:p>
          <a:p>
            <a:pPr>
              <a:lnSpc>
                <a:spcPct val="110000"/>
              </a:lnSpc>
              <a:spcAft>
                <a:spcPts val="1600"/>
              </a:spcAft>
            </a:pPr>
            <a:r>
              <a:rPr sz="2000">
                <a:solidFill>
                  <a:srgbClr val="3FAE6A"/>
                </a:solidFill>
                <a:latin typeface="Segoe UI"/>
              </a:rPr>
              <a:t>▪  </a:t>
            </a:r>
            <a:r>
              <a:rPr sz="2000" b="1">
                <a:solidFill>
                  <a:srgbClr val="F2F5F3"/>
                </a:solidFill>
                <a:latin typeface="Segoe UI"/>
              </a:rPr>
              <a:t>Our response: </a:t>
            </a:r>
            <a:r>
              <a:rPr sz="2000" b="0">
                <a:solidFill>
                  <a:srgbClr val="F2F5F3"/>
                </a:solidFill>
                <a:latin typeface="Segoe UI"/>
              </a:rPr>
              <a:t>block, tarpit, honeypots and honeytokens, evidence to SingCERT or the police</a:t>
            </a:r>
          </a:p>
        </p:txBody>
      </p:sp>
      <p:pic>
        <p:nvPicPr>
          <p:cNvPr id="5" name="Picture 4" descr="perimeter.png"/>
          <p:cNvPicPr>
            <a:picLocks noChangeAspect="1"/>
          </p:cNvPicPr>
          <p:nvPr/>
        </p:nvPicPr>
        <p:blipFill>
          <a:blip r:embed="rId3"/>
          <a:stretch>
            <a:fillRect/>
          </a:stretch>
        </p:blipFill>
        <p:spPr>
          <a:xfrm>
            <a:off x="7772400" y="1737360"/>
            <a:ext cx="4219751" cy="4023360"/>
          </a:xfrm>
          <a:prstGeom prst="rect">
            <a:avLst/>
          </a:prstGeom>
        </p:spPr>
      </p:pic>
      <p:sp>
        <p:nvSpPr>
          <p:cNvPr id="6" name="TextBox 5"/>
          <p:cNvSpPr txBox="1"/>
          <p:nvPr/>
        </p:nvSpPr>
        <p:spPr>
          <a:xfrm>
            <a:off x="640080" y="6355080"/>
            <a:ext cx="10881360" cy="320040"/>
          </a:xfrm>
          <a:prstGeom prst="rect">
            <a:avLst/>
          </a:prstGeom>
          <a:noFill/>
        </p:spPr>
        <p:txBody>
          <a:bodyPr wrap="square" anchor="t" lIns="45720" rIns="45720" tIns="18288" bIns="18288">
            <a:spAutoFit/>
          </a:bodyPr>
          <a:lstStyle/>
          <a:p>
            <a:pPr algn="l">
              <a:lnSpc>
                <a:spcPct val="110000"/>
              </a:lnSpc>
            </a:pPr>
            <a:r>
              <a:rPr sz="1100" b="0">
                <a:solidFill>
                  <a:srgbClr val="A9BBAF"/>
                </a:solidFill>
                <a:latin typeface="Segoe UI"/>
              </a:rPr>
              <a:t>Computer Misuse Act 1993 (2020 Rev. Ed.), ss 3, 5, 7: sso.agc.gov.sg/Act/CMA1993</a:t>
            </a:r>
          </a:p>
        </p:txBody>
      </p:sp>
      <p:sp>
        <p:nvSpPr>
          <p:cNvPr id="7" name="TextBox 6"/>
          <p:cNvSpPr txBox="1"/>
          <p:nvPr/>
        </p:nvSpPr>
        <p:spPr>
          <a:xfrm>
            <a:off x="11155680" y="6355080"/>
            <a:ext cx="457200" cy="320040"/>
          </a:xfrm>
          <a:prstGeom prst="rect">
            <a:avLst/>
          </a:prstGeom>
          <a:noFill/>
        </p:spPr>
        <p:txBody>
          <a:bodyPr wrap="square" anchor="t" lIns="45720" rIns="45720" tIns="18288" bIns="18288">
            <a:spAutoFit/>
          </a:bodyPr>
          <a:lstStyle/>
          <a:p>
            <a:pPr algn="r">
              <a:lnSpc>
                <a:spcPct val="110000"/>
              </a:lnSpc>
            </a:pPr>
            <a:r>
              <a:rPr sz="1100" b="0">
                <a:solidFill>
                  <a:srgbClr val="A9BBAF"/>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B14"/>
        </a:solidFill>
        <a:effectLst/>
      </p:bgPr>
    </p:bg>
    <p:spTree>
      <p:nvGrpSpPr>
        <p:cNvPr id="1" name=""/>
        <p:cNvGrpSpPr/>
        <p:nvPr/>
      </p:nvGrpSpPr>
      <p:grpSpPr/>
      <p:sp>
        <p:nvSpPr>
          <p:cNvPr id="2" name="TextBox 1"/>
          <p:cNvSpPr txBox="1"/>
          <p:nvPr/>
        </p:nvSpPr>
        <p:spPr>
          <a:xfrm>
            <a:off x="640080" y="411480"/>
            <a:ext cx="10058400" cy="365760"/>
          </a:xfrm>
          <a:prstGeom prst="rect">
            <a:avLst/>
          </a:prstGeom>
          <a:noFill/>
        </p:spPr>
        <p:txBody>
          <a:bodyPr wrap="square" anchor="t" lIns="45720" rIns="45720" tIns="18288" bIns="18288">
            <a:spAutoFit/>
          </a:bodyPr>
          <a:lstStyle/>
          <a:p>
            <a:pPr algn="l">
              <a:lnSpc>
                <a:spcPct val="110000"/>
              </a:lnSpc>
            </a:pPr>
            <a:r>
              <a:rPr sz="1300" b="1">
                <a:solidFill>
                  <a:srgbClr val="3FAE6A"/>
                </a:solidFill>
                <a:latin typeface="Segoe UI"/>
              </a:rPr>
              <a:t>HOW IT FITS TOGETHER</a:t>
            </a:r>
          </a:p>
        </p:txBody>
      </p:sp>
      <p:sp>
        <p:nvSpPr>
          <p:cNvPr id="3" name="TextBox 2"/>
          <p:cNvSpPr txBox="1"/>
          <p:nvPr/>
        </p:nvSpPr>
        <p:spPr>
          <a:xfrm>
            <a:off x="640080" y="731520"/>
            <a:ext cx="10881360" cy="822960"/>
          </a:xfrm>
          <a:prstGeom prst="rect">
            <a:avLst/>
          </a:prstGeom>
          <a:noFill/>
        </p:spPr>
        <p:txBody>
          <a:bodyPr wrap="square" anchor="t" lIns="45720" rIns="45720" tIns="18288" bIns="18288">
            <a:spAutoFit/>
          </a:bodyPr>
          <a:lstStyle/>
          <a:p>
            <a:pPr algn="l">
              <a:lnSpc>
                <a:spcPct val="110000"/>
              </a:lnSpc>
            </a:pPr>
            <a:r>
              <a:rPr sz="3400" b="1">
                <a:solidFill>
                  <a:srgbClr val="F2F5F3"/>
                </a:solidFill>
                <a:latin typeface="Segoe UI"/>
              </a:rPr>
              <a:t>Agent architecture</a:t>
            </a:r>
          </a:p>
        </p:txBody>
      </p:sp>
      <p:sp>
        <p:nvSpPr>
          <p:cNvPr id="4" name="Rounded Rectangle 3"/>
          <p:cNvSpPr/>
          <p:nvPr/>
        </p:nvSpPr>
        <p:spPr>
          <a:xfrm>
            <a:off x="2392527" y="1463040"/>
            <a:ext cx="7406640" cy="4826725"/>
          </a:xfrm>
          <a:prstGeom prst="roundRect">
            <a:avLst>
              <a:gd name="adj" fmla="val 6000"/>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rchitecture.png"/>
          <p:cNvPicPr>
            <a:picLocks noChangeAspect="1"/>
          </p:cNvPicPr>
          <p:nvPr/>
        </p:nvPicPr>
        <p:blipFill>
          <a:blip r:embed="rId3"/>
          <a:stretch>
            <a:fillRect/>
          </a:stretch>
        </p:blipFill>
        <p:spPr>
          <a:xfrm>
            <a:off x="2483967" y="1554480"/>
            <a:ext cx="7223760" cy="4643846"/>
          </a:xfrm>
          <a:prstGeom prst="rect">
            <a:avLst/>
          </a:prstGeom>
        </p:spPr>
      </p:pic>
      <p:sp>
        <p:nvSpPr>
          <p:cNvPr id="6" name="TextBox 5"/>
          <p:cNvSpPr txBox="1"/>
          <p:nvPr/>
        </p:nvSpPr>
        <p:spPr>
          <a:xfrm>
            <a:off x="11155680" y="6355080"/>
            <a:ext cx="457200" cy="320040"/>
          </a:xfrm>
          <a:prstGeom prst="rect">
            <a:avLst/>
          </a:prstGeom>
          <a:noFill/>
        </p:spPr>
        <p:txBody>
          <a:bodyPr wrap="square" anchor="t" lIns="45720" rIns="45720" tIns="18288" bIns="18288">
            <a:spAutoFit/>
          </a:bodyPr>
          <a:lstStyle/>
          <a:p>
            <a:pPr algn="r">
              <a:lnSpc>
                <a:spcPct val="110000"/>
              </a:lnSpc>
            </a:pPr>
            <a:r>
              <a:rPr sz="1100" b="0">
                <a:solidFill>
                  <a:srgbClr val="A9BBAF"/>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B14"/>
        </a:solidFill>
        <a:effectLst/>
      </p:bgPr>
    </p:bg>
    <p:spTree>
      <p:nvGrpSpPr>
        <p:cNvPr id="1" name=""/>
        <p:cNvGrpSpPr/>
        <p:nvPr/>
      </p:nvGrpSpPr>
      <p:grpSpPr/>
      <p:sp>
        <p:nvSpPr>
          <p:cNvPr id="2" name="TextBox 1"/>
          <p:cNvSpPr txBox="1"/>
          <p:nvPr/>
        </p:nvSpPr>
        <p:spPr>
          <a:xfrm>
            <a:off x="640080" y="411480"/>
            <a:ext cx="10058400" cy="365760"/>
          </a:xfrm>
          <a:prstGeom prst="rect">
            <a:avLst/>
          </a:prstGeom>
          <a:noFill/>
        </p:spPr>
        <p:txBody>
          <a:bodyPr wrap="square" anchor="t" lIns="45720" rIns="45720" tIns="18288" bIns="18288">
            <a:spAutoFit/>
          </a:bodyPr>
          <a:lstStyle/>
          <a:p>
            <a:pPr algn="l">
              <a:lnSpc>
                <a:spcPct val="110000"/>
              </a:lnSpc>
            </a:pPr>
            <a:r>
              <a:rPr sz="1300" b="1">
                <a:solidFill>
                  <a:srgbClr val="3FAE6A"/>
                </a:solidFill>
                <a:latin typeface="Segoe UI"/>
              </a:rPr>
              <a:t>WHAT'S NEXT</a:t>
            </a:r>
          </a:p>
        </p:txBody>
      </p:sp>
      <p:sp>
        <p:nvSpPr>
          <p:cNvPr id="3" name="TextBox 2"/>
          <p:cNvSpPr txBox="1"/>
          <p:nvPr/>
        </p:nvSpPr>
        <p:spPr>
          <a:xfrm>
            <a:off x="640080" y="731520"/>
            <a:ext cx="10881360" cy="822960"/>
          </a:xfrm>
          <a:prstGeom prst="rect">
            <a:avLst/>
          </a:prstGeom>
          <a:noFill/>
        </p:spPr>
        <p:txBody>
          <a:bodyPr wrap="square" anchor="t" lIns="45720" rIns="45720" tIns="18288" bIns="18288">
            <a:spAutoFit/>
          </a:bodyPr>
          <a:lstStyle/>
          <a:p>
            <a:pPr algn="l">
              <a:lnSpc>
                <a:spcPct val="110000"/>
              </a:lnSpc>
            </a:pPr>
            <a:r>
              <a:rPr sz="3400" b="1">
                <a:solidFill>
                  <a:srgbClr val="F2F5F3"/>
                </a:solidFill>
                <a:latin typeface="Segoe UI"/>
              </a:rPr>
              <a:t>Roadmap and team</a:t>
            </a:r>
          </a:p>
        </p:txBody>
      </p:sp>
      <p:sp>
        <p:nvSpPr>
          <p:cNvPr id="4" name="Rounded Rectangle 3"/>
          <p:cNvSpPr/>
          <p:nvPr/>
        </p:nvSpPr>
        <p:spPr>
          <a:xfrm>
            <a:off x="640080" y="1691640"/>
            <a:ext cx="3474720" cy="3657600"/>
          </a:xfrm>
          <a:prstGeom prst="roundRect">
            <a:avLst>
              <a:gd name="adj" fmla="val 6000"/>
            </a:avLst>
          </a:prstGeom>
          <a:solidFill>
            <a:srgbClr val="182A1F"/>
          </a:solidFill>
          <a:ln w="15875">
            <a:solidFill>
              <a:srgbClr val="3FA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3474720" cy="457200"/>
          </a:xfrm>
          <a:prstGeom prst="rect">
            <a:avLst/>
          </a:prstGeom>
          <a:noFill/>
        </p:spPr>
        <p:txBody>
          <a:bodyPr wrap="square" anchor="t" lIns="45720" rIns="45720" tIns="18288" bIns="18288">
            <a:spAutoFit/>
          </a:bodyPr>
          <a:lstStyle/>
          <a:p>
            <a:pPr algn="l">
              <a:lnSpc>
                <a:spcPct val="110000"/>
              </a:lnSpc>
            </a:pPr>
            <a:r>
              <a:rPr sz="2200" b="1">
                <a:solidFill>
                  <a:srgbClr val="3FAE6A"/>
                </a:solidFill>
                <a:latin typeface="Segoe UI"/>
              </a:rPr>
              <a:t>Now (MVP)</a:t>
            </a:r>
          </a:p>
        </p:txBody>
      </p:sp>
      <p:sp>
        <p:nvSpPr>
          <p:cNvPr id="6" name="TextBox 5"/>
          <p:cNvSpPr txBox="1"/>
          <p:nvPr/>
        </p:nvSpPr>
        <p:spPr>
          <a:xfrm>
            <a:off x="914400" y="2377440"/>
            <a:ext cx="3017520" cy="2286000"/>
          </a:xfrm>
          <a:prstGeom prst="rect">
            <a:avLst/>
          </a:prstGeom>
          <a:noFill/>
        </p:spPr>
        <p:txBody>
          <a:bodyPr wrap="square">
            <a:spAutoFit/>
          </a:bodyPr>
          <a:lstStyle/>
          <a:p>
            <a:pPr>
              <a:lnSpc>
                <a:spcPct val="110000"/>
              </a:lnSpc>
              <a:spcAft>
                <a:spcPts val="300"/>
              </a:spcAft>
            </a:pPr>
            <a:r>
              <a:rPr sz="1300">
                <a:solidFill>
                  <a:srgbClr val="3FAE6A"/>
                </a:solidFill>
                <a:latin typeface="Segoe UI"/>
              </a:rPr>
              <a:t>▪  </a:t>
            </a:r>
            <a:r>
              <a:rPr sz="1300" b="0">
                <a:solidFill>
                  <a:srgbClr val="F2F5F3"/>
                </a:solidFill>
                <a:latin typeface="Segoe UI"/>
              </a:rPr>
              <a:t>Web, DB, OS and server log collectors</a:t>
            </a:r>
          </a:p>
          <a:p>
            <a:pPr>
              <a:lnSpc>
                <a:spcPct val="110000"/>
              </a:lnSpc>
              <a:spcAft>
                <a:spcPts val="300"/>
              </a:spcAft>
            </a:pPr>
            <a:r>
              <a:rPr sz="1300">
                <a:solidFill>
                  <a:srgbClr val="3FAE6A"/>
                </a:solidFill>
                <a:latin typeface="Segoe UI"/>
              </a:rPr>
              <a:t>▪  </a:t>
            </a:r>
            <a:r>
              <a:rPr sz="1300" b="0">
                <a:solidFill>
                  <a:srgbClr val="F2F5F3"/>
                </a:solidFill>
                <a:latin typeface="Segoe UI"/>
              </a:rPr>
              <a:t>Rules → Jev → fallback, accuracy measured</a:t>
            </a:r>
          </a:p>
          <a:p>
            <a:pPr>
              <a:lnSpc>
                <a:spcPct val="110000"/>
              </a:lnSpc>
              <a:spcAft>
                <a:spcPts val="300"/>
              </a:spcAft>
            </a:pPr>
            <a:r>
              <a:rPr sz="1300">
                <a:solidFill>
                  <a:srgbClr val="3FAE6A"/>
                </a:solidFill>
                <a:latin typeface="Segoe UI"/>
              </a:rPr>
              <a:t>▪  </a:t>
            </a:r>
            <a:r>
              <a:rPr sz="1300" b="0">
                <a:solidFill>
                  <a:srgbClr val="F2F5F3"/>
                </a:solidFill>
                <a:latin typeface="Segoe UI"/>
              </a:rPr>
              <a:t>AI planner, two-key approval, off switch</a:t>
            </a:r>
          </a:p>
          <a:p>
            <a:pPr>
              <a:lnSpc>
                <a:spcPct val="110000"/>
              </a:lnSpc>
              <a:spcAft>
                <a:spcPts val="300"/>
              </a:spcAft>
            </a:pPr>
            <a:r>
              <a:rPr sz="1300">
                <a:solidFill>
                  <a:srgbClr val="3FAE6A"/>
                </a:solidFill>
                <a:latin typeface="Segoe UI"/>
              </a:rPr>
              <a:t>▪  </a:t>
            </a:r>
            <a:r>
              <a:rPr sz="1300" b="0">
                <a:solidFill>
                  <a:srgbClr val="F2F5F3"/>
                </a:solidFill>
                <a:latin typeface="Segoe UI"/>
              </a:rPr>
              <a:t>Firewall blocking, dry-run first</a:t>
            </a:r>
          </a:p>
          <a:p>
            <a:pPr>
              <a:lnSpc>
                <a:spcPct val="110000"/>
              </a:lnSpc>
              <a:spcAft>
                <a:spcPts val="300"/>
              </a:spcAft>
            </a:pPr>
            <a:r>
              <a:rPr sz="1300">
                <a:solidFill>
                  <a:srgbClr val="3FAE6A"/>
                </a:solidFill>
                <a:latin typeface="Segoe UI"/>
              </a:rPr>
              <a:t>▪  </a:t>
            </a:r>
            <a:r>
              <a:rPr sz="1300" b="0">
                <a:solidFill>
                  <a:srgbClr val="F2F5F3"/>
                </a:solidFill>
                <a:latin typeface="Segoe UI"/>
              </a:rPr>
              <a:t>Tarpit, honeypots, honeytokens</a:t>
            </a:r>
          </a:p>
          <a:p>
            <a:pPr>
              <a:lnSpc>
                <a:spcPct val="110000"/>
              </a:lnSpc>
              <a:spcAft>
                <a:spcPts val="300"/>
              </a:spcAft>
            </a:pPr>
            <a:r>
              <a:rPr sz="1300">
                <a:solidFill>
                  <a:srgbClr val="3FAE6A"/>
                </a:solidFill>
                <a:latin typeface="Segoe UI"/>
              </a:rPr>
              <a:t>▪  </a:t>
            </a:r>
            <a:r>
              <a:rPr sz="1300" b="0">
                <a:solidFill>
                  <a:srgbClr val="F2F5F3"/>
                </a:solidFill>
                <a:latin typeface="Segoe UI"/>
              </a:rPr>
              <a:t>Evidence report PDF + hash chain</a:t>
            </a:r>
          </a:p>
        </p:txBody>
      </p:sp>
      <p:sp>
        <p:nvSpPr>
          <p:cNvPr id="7" name="Rounded Rectangle 6"/>
          <p:cNvSpPr/>
          <p:nvPr/>
        </p:nvSpPr>
        <p:spPr>
          <a:xfrm>
            <a:off x="4343400" y="1691640"/>
            <a:ext cx="3474720" cy="3657600"/>
          </a:xfrm>
          <a:prstGeom prst="roundRect">
            <a:avLst>
              <a:gd name="adj" fmla="val 6000"/>
            </a:avLst>
          </a:prstGeom>
          <a:solidFill>
            <a:srgbClr val="182A1F"/>
          </a:solidFill>
          <a:ln w="15875">
            <a:solidFill>
              <a:srgbClr val="F2C1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828800"/>
            <a:ext cx="3474720" cy="457200"/>
          </a:xfrm>
          <a:prstGeom prst="rect">
            <a:avLst/>
          </a:prstGeom>
          <a:noFill/>
        </p:spPr>
        <p:txBody>
          <a:bodyPr wrap="square" anchor="t" lIns="45720" rIns="45720" tIns="18288" bIns="18288">
            <a:spAutoFit/>
          </a:bodyPr>
          <a:lstStyle/>
          <a:p>
            <a:pPr algn="l">
              <a:lnSpc>
                <a:spcPct val="110000"/>
              </a:lnSpc>
            </a:pPr>
            <a:r>
              <a:rPr sz="2200" b="1">
                <a:solidFill>
                  <a:srgbClr val="F2C14E"/>
                </a:solidFill>
                <a:latin typeface="Segoe UI"/>
              </a:rPr>
              <a:t>Next</a:t>
            </a:r>
          </a:p>
        </p:txBody>
      </p:sp>
      <p:sp>
        <p:nvSpPr>
          <p:cNvPr id="9" name="TextBox 8"/>
          <p:cNvSpPr txBox="1"/>
          <p:nvPr/>
        </p:nvSpPr>
        <p:spPr>
          <a:xfrm>
            <a:off x="4617720" y="2377440"/>
            <a:ext cx="3017520" cy="2286000"/>
          </a:xfrm>
          <a:prstGeom prst="rect">
            <a:avLst/>
          </a:prstGeom>
          <a:noFill/>
        </p:spPr>
        <p:txBody>
          <a:bodyPr wrap="square">
            <a:spAutoFit/>
          </a:bodyPr>
          <a:lstStyle/>
          <a:p>
            <a:pPr>
              <a:lnSpc>
                <a:spcPct val="110000"/>
              </a:lnSpc>
              <a:spcAft>
                <a:spcPts val="300"/>
              </a:spcAft>
            </a:pPr>
            <a:r>
              <a:rPr sz="1300">
                <a:solidFill>
                  <a:srgbClr val="3FAE6A"/>
                </a:solidFill>
                <a:latin typeface="Segoe UI"/>
              </a:rPr>
              <a:t>▪  </a:t>
            </a:r>
            <a:r>
              <a:rPr sz="1300" b="0">
                <a:solidFill>
                  <a:srgbClr val="F2F5F3"/>
                </a:solidFill>
                <a:latin typeface="Segoe UI"/>
              </a:rPr>
              <a:t>Live Jev and Telegram tests</a:t>
            </a:r>
          </a:p>
          <a:p>
            <a:pPr>
              <a:lnSpc>
                <a:spcPct val="110000"/>
              </a:lnSpc>
              <a:spcAft>
                <a:spcPts val="300"/>
              </a:spcAft>
            </a:pPr>
            <a:r>
              <a:rPr sz="1300">
                <a:solidFill>
                  <a:srgbClr val="3FAE6A"/>
                </a:solidFill>
                <a:latin typeface="Segoe UI"/>
              </a:rPr>
              <a:t>▪  </a:t>
            </a:r>
            <a:r>
              <a:rPr sz="1300" b="0">
                <a:solidFill>
                  <a:srgbClr val="F2F5F3"/>
                </a:solidFill>
                <a:latin typeface="Segoe UI"/>
              </a:rPr>
              <a:t>Windows Event Log agent</a:t>
            </a:r>
          </a:p>
          <a:p>
            <a:pPr>
              <a:lnSpc>
                <a:spcPct val="110000"/>
              </a:lnSpc>
              <a:spcAft>
                <a:spcPts val="300"/>
              </a:spcAft>
            </a:pPr>
            <a:r>
              <a:rPr sz="1300">
                <a:solidFill>
                  <a:srgbClr val="3FAE6A"/>
                </a:solidFill>
                <a:latin typeface="Segoe UI"/>
              </a:rPr>
              <a:t>▪  </a:t>
            </a:r>
            <a:r>
              <a:rPr sz="1300" b="0">
                <a:solidFill>
                  <a:srgbClr val="F2F5F3"/>
                </a:solidFill>
                <a:latin typeface="Segoe UI"/>
              </a:rPr>
              <a:t>Cloud config scan (S3, security groups)</a:t>
            </a:r>
          </a:p>
          <a:p>
            <a:pPr>
              <a:lnSpc>
                <a:spcPct val="110000"/>
              </a:lnSpc>
              <a:spcAft>
                <a:spcPts val="300"/>
              </a:spcAft>
            </a:pPr>
            <a:r>
              <a:rPr sz="1300">
                <a:solidFill>
                  <a:srgbClr val="3FAE6A"/>
                </a:solidFill>
                <a:latin typeface="Segoe UI"/>
              </a:rPr>
              <a:t>▪  </a:t>
            </a:r>
            <a:r>
              <a:rPr sz="1300" b="0">
                <a:solidFill>
                  <a:srgbClr val="F2F5F3"/>
                </a:solidFill>
                <a:latin typeface="Segoe UI"/>
              </a:rPr>
              <a:t>Teams, Slack and SMS escalation</a:t>
            </a:r>
          </a:p>
        </p:txBody>
      </p:sp>
      <p:sp>
        <p:nvSpPr>
          <p:cNvPr id="10" name="Rounded Rectangle 9"/>
          <p:cNvSpPr/>
          <p:nvPr/>
        </p:nvSpPr>
        <p:spPr>
          <a:xfrm>
            <a:off x="8046720" y="1691640"/>
            <a:ext cx="3474720" cy="3657600"/>
          </a:xfrm>
          <a:prstGeom prst="roundRect">
            <a:avLst>
              <a:gd name="adj" fmla="val 6000"/>
            </a:avLst>
          </a:prstGeom>
          <a:solidFill>
            <a:srgbClr val="182A1F"/>
          </a:solidFill>
          <a:ln w="15875">
            <a:solidFill>
              <a:srgbClr val="E68A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1828800"/>
            <a:ext cx="3474720" cy="457200"/>
          </a:xfrm>
          <a:prstGeom prst="rect">
            <a:avLst/>
          </a:prstGeom>
          <a:noFill/>
        </p:spPr>
        <p:txBody>
          <a:bodyPr wrap="square" anchor="t" lIns="45720" rIns="45720" tIns="18288" bIns="18288">
            <a:spAutoFit/>
          </a:bodyPr>
          <a:lstStyle/>
          <a:p>
            <a:pPr algn="l">
              <a:lnSpc>
                <a:spcPct val="110000"/>
              </a:lnSpc>
            </a:pPr>
            <a:r>
              <a:rPr sz="2200" b="1">
                <a:solidFill>
                  <a:srgbClr val="E68AAE"/>
                </a:solidFill>
                <a:latin typeface="Segoe UI"/>
              </a:rPr>
              <a:t>Later</a:t>
            </a:r>
          </a:p>
        </p:txBody>
      </p:sp>
      <p:sp>
        <p:nvSpPr>
          <p:cNvPr id="12" name="TextBox 11"/>
          <p:cNvSpPr txBox="1"/>
          <p:nvPr/>
        </p:nvSpPr>
        <p:spPr>
          <a:xfrm>
            <a:off x="8321040" y="2377440"/>
            <a:ext cx="3017520" cy="2286000"/>
          </a:xfrm>
          <a:prstGeom prst="rect">
            <a:avLst/>
          </a:prstGeom>
          <a:noFill/>
        </p:spPr>
        <p:txBody>
          <a:bodyPr wrap="square">
            <a:spAutoFit/>
          </a:bodyPr>
          <a:lstStyle/>
          <a:p>
            <a:pPr>
              <a:lnSpc>
                <a:spcPct val="110000"/>
              </a:lnSpc>
              <a:spcAft>
                <a:spcPts val="300"/>
              </a:spcAft>
            </a:pPr>
            <a:r>
              <a:rPr sz="1300">
                <a:solidFill>
                  <a:srgbClr val="3FAE6A"/>
                </a:solidFill>
                <a:latin typeface="Segoe UI"/>
              </a:rPr>
              <a:t>▪  </a:t>
            </a:r>
            <a:r>
              <a:rPr sz="1300" b="0">
                <a:solidFill>
                  <a:srgbClr val="F2F5F3"/>
                </a:solidFill>
                <a:latin typeface="Segoe UI"/>
              </a:rPr>
              <a:t>Single-binary collectors</a:t>
            </a:r>
          </a:p>
          <a:p>
            <a:pPr>
              <a:lnSpc>
                <a:spcPct val="110000"/>
              </a:lnSpc>
              <a:spcAft>
                <a:spcPts val="300"/>
              </a:spcAft>
            </a:pPr>
            <a:r>
              <a:rPr sz="1300">
                <a:solidFill>
                  <a:srgbClr val="3FAE6A"/>
                </a:solidFill>
                <a:latin typeface="Segoe UI"/>
              </a:rPr>
              <a:t>▪  </a:t>
            </a:r>
            <a:r>
              <a:rPr sz="1300" b="0">
                <a:solidFill>
                  <a:srgbClr val="F2F5F3"/>
                </a:solidFill>
                <a:latin typeface="Segoe UI"/>
              </a:rPr>
              <a:t>Agents as separate services</a:t>
            </a:r>
          </a:p>
          <a:p>
            <a:pPr>
              <a:lnSpc>
                <a:spcPct val="110000"/>
              </a:lnSpc>
              <a:spcAft>
                <a:spcPts val="300"/>
              </a:spcAft>
            </a:pPr>
            <a:r>
              <a:rPr sz="1300">
                <a:solidFill>
                  <a:srgbClr val="3FAE6A"/>
                </a:solidFill>
                <a:latin typeface="Segoe UI"/>
              </a:rPr>
              <a:t>▪  </a:t>
            </a:r>
            <a:r>
              <a:rPr sz="1300" b="0">
                <a:solidFill>
                  <a:srgbClr val="F2F5F3"/>
                </a:solidFill>
                <a:latin typeface="Segoe UI"/>
              </a:rPr>
              <a:t>Pilot with a Singapore private school</a:t>
            </a:r>
          </a:p>
        </p:txBody>
      </p:sp>
      <p:sp>
        <p:nvSpPr>
          <p:cNvPr id="13" name="Rounded Rectangle 12"/>
          <p:cNvSpPr/>
          <p:nvPr/>
        </p:nvSpPr>
        <p:spPr>
          <a:xfrm>
            <a:off x="640080" y="5532120"/>
            <a:ext cx="3474720" cy="640080"/>
          </a:xfrm>
          <a:prstGeom prst="roundRect">
            <a:avLst>
              <a:gd name="adj" fmla="val 6000"/>
            </a:avLst>
          </a:prstGeom>
          <a:noFill/>
          <a:ln w="15875">
            <a:solidFill>
              <a:srgbClr val="2C44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5532120"/>
            <a:ext cx="3474720" cy="640080"/>
          </a:xfrm>
          <a:prstGeom prst="rect">
            <a:avLst/>
          </a:prstGeom>
          <a:noFill/>
        </p:spPr>
        <p:txBody>
          <a:bodyPr wrap="square" anchor="ctr" lIns="45720" rIns="45720" tIns="18288" bIns="18288">
            <a:spAutoFit/>
          </a:bodyPr>
          <a:lstStyle/>
          <a:p>
            <a:pPr algn="ctr">
              <a:lnSpc>
                <a:spcPct val="110000"/>
              </a:lnSpc>
            </a:pPr>
            <a:r>
              <a:rPr sz="1700" b="1">
                <a:solidFill>
                  <a:srgbClr val="F2F5F3"/>
                </a:solidFill>
                <a:latin typeface="Segoe UI"/>
              </a:rPr>
              <a:t>Erick Sientaro</a:t>
            </a:r>
            <a:r>
              <a:rPr sz="1500" b="0">
                <a:solidFill>
                  <a:srgbClr val="A9BBAF"/>
                </a:solidFill>
                <a:latin typeface="Segoe UI"/>
              </a:rPr>
              <a:t>  ·  Developer</a:t>
            </a:r>
          </a:p>
        </p:txBody>
      </p:sp>
      <p:sp>
        <p:nvSpPr>
          <p:cNvPr id="15" name="Rounded Rectangle 14"/>
          <p:cNvSpPr/>
          <p:nvPr/>
        </p:nvSpPr>
        <p:spPr>
          <a:xfrm>
            <a:off x="4343400" y="5532120"/>
            <a:ext cx="3474720" cy="640080"/>
          </a:xfrm>
          <a:prstGeom prst="roundRect">
            <a:avLst>
              <a:gd name="adj" fmla="val 6000"/>
            </a:avLst>
          </a:prstGeom>
          <a:noFill/>
          <a:ln w="15875">
            <a:solidFill>
              <a:srgbClr val="2C44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43400" y="5532120"/>
            <a:ext cx="3474720" cy="640080"/>
          </a:xfrm>
          <a:prstGeom prst="rect">
            <a:avLst/>
          </a:prstGeom>
          <a:noFill/>
        </p:spPr>
        <p:txBody>
          <a:bodyPr wrap="square" anchor="ctr" lIns="45720" rIns="45720" tIns="18288" bIns="18288">
            <a:spAutoFit/>
          </a:bodyPr>
          <a:lstStyle/>
          <a:p>
            <a:pPr algn="ctr">
              <a:lnSpc>
                <a:spcPct val="110000"/>
              </a:lnSpc>
            </a:pPr>
            <a:r>
              <a:rPr sz="1700" b="1">
                <a:solidFill>
                  <a:srgbClr val="F2F5F3"/>
                </a:solidFill>
                <a:latin typeface="Segoe UI"/>
              </a:rPr>
              <a:t>Ishmail</a:t>
            </a:r>
            <a:r>
              <a:rPr sz="1500" b="0">
                <a:solidFill>
                  <a:srgbClr val="A9BBAF"/>
                </a:solidFill>
                <a:latin typeface="Segoe UI"/>
              </a:rPr>
              <a:t>  ·  CEO, pitch</a:t>
            </a:r>
          </a:p>
        </p:txBody>
      </p:sp>
      <p:sp>
        <p:nvSpPr>
          <p:cNvPr id="17" name="Rounded Rectangle 16"/>
          <p:cNvSpPr/>
          <p:nvPr/>
        </p:nvSpPr>
        <p:spPr>
          <a:xfrm>
            <a:off x="8046720" y="5532120"/>
            <a:ext cx="3474720" cy="640080"/>
          </a:xfrm>
          <a:prstGeom prst="roundRect">
            <a:avLst>
              <a:gd name="adj" fmla="val 6000"/>
            </a:avLst>
          </a:prstGeom>
          <a:noFill/>
          <a:ln w="15875">
            <a:solidFill>
              <a:srgbClr val="2C44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0" y="5532120"/>
            <a:ext cx="3474720" cy="640080"/>
          </a:xfrm>
          <a:prstGeom prst="rect">
            <a:avLst/>
          </a:prstGeom>
          <a:noFill/>
        </p:spPr>
        <p:txBody>
          <a:bodyPr wrap="square" anchor="ctr" lIns="45720" rIns="45720" tIns="18288" bIns="18288">
            <a:spAutoFit/>
          </a:bodyPr>
          <a:lstStyle/>
          <a:p>
            <a:pPr algn="ctr">
              <a:lnSpc>
                <a:spcPct val="110000"/>
              </a:lnSpc>
            </a:pPr>
            <a:r>
              <a:rPr sz="1700" b="1">
                <a:solidFill>
                  <a:srgbClr val="F2F5F3"/>
                </a:solidFill>
                <a:latin typeface="Segoe UI"/>
              </a:rPr>
              <a:t>Hozen</a:t>
            </a:r>
            <a:r>
              <a:rPr sz="1500" b="0">
                <a:solidFill>
                  <a:srgbClr val="A9BBAF"/>
                </a:solidFill>
                <a:latin typeface="Segoe UI"/>
              </a:rPr>
              <a:t>  ·  Slides and sources</a:t>
            </a:r>
          </a:p>
        </p:txBody>
      </p:sp>
      <p:sp>
        <p:nvSpPr>
          <p:cNvPr id="19" name="TextBox 18"/>
          <p:cNvSpPr txBox="1"/>
          <p:nvPr/>
        </p:nvSpPr>
        <p:spPr>
          <a:xfrm>
            <a:off x="11155680" y="6355080"/>
            <a:ext cx="457200" cy="320040"/>
          </a:xfrm>
          <a:prstGeom prst="rect">
            <a:avLst/>
          </a:prstGeom>
          <a:noFill/>
        </p:spPr>
        <p:txBody>
          <a:bodyPr wrap="square" anchor="t" lIns="45720" rIns="45720" tIns="18288" bIns="18288">
            <a:spAutoFit/>
          </a:bodyPr>
          <a:lstStyle/>
          <a:p>
            <a:pPr algn="r">
              <a:lnSpc>
                <a:spcPct val="110000"/>
              </a:lnSpc>
            </a:pPr>
            <a:r>
              <a:rPr sz="1100" b="0">
                <a:solidFill>
                  <a:srgbClr val="A9BBAF"/>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B14"/>
        </a:solidFill>
        <a:effectLst/>
      </p:bgPr>
    </p:bg>
    <p:spTree>
      <p:nvGrpSpPr>
        <p:cNvPr id="1" name=""/>
        <p:cNvGrpSpPr/>
        <p:nvPr/>
      </p:nvGrpSpPr>
      <p:grpSpPr/>
      <p:sp>
        <p:nvSpPr>
          <p:cNvPr id="2" name="TextBox 1"/>
          <p:cNvSpPr txBox="1"/>
          <p:nvPr/>
        </p:nvSpPr>
        <p:spPr>
          <a:xfrm>
            <a:off x="640080" y="411480"/>
            <a:ext cx="10058400" cy="365760"/>
          </a:xfrm>
          <a:prstGeom prst="rect">
            <a:avLst/>
          </a:prstGeom>
          <a:noFill/>
        </p:spPr>
        <p:txBody>
          <a:bodyPr wrap="square" anchor="t" lIns="45720" rIns="45720" tIns="18288" bIns="18288">
            <a:spAutoFit/>
          </a:bodyPr>
          <a:lstStyle/>
          <a:p>
            <a:pPr algn="l">
              <a:lnSpc>
                <a:spcPct val="110000"/>
              </a:lnSpc>
            </a:pPr>
            <a:r>
              <a:rPr sz="1300" b="1">
                <a:solidFill>
                  <a:srgbClr val="3FAE6A"/>
                </a:solidFill>
                <a:latin typeface="Segoe UI"/>
              </a:rPr>
              <a:t>SOURCES</a:t>
            </a:r>
          </a:p>
        </p:txBody>
      </p:sp>
      <p:sp>
        <p:nvSpPr>
          <p:cNvPr id="3" name="TextBox 2"/>
          <p:cNvSpPr txBox="1"/>
          <p:nvPr/>
        </p:nvSpPr>
        <p:spPr>
          <a:xfrm>
            <a:off x="640080" y="731520"/>
            <a:ext cx="10881360" cy="822960"/>
          </a:xfrm>
          <a:prstGeom prst="rect">
            <a:avLst/>
          </a:prstGeom>
          <a:noFill/>
        </p:spPr>
        <p:txBody>
          <a:bodyPr wrap="square" anchor="t" lIns="45720" rIns="45720" tIns="18288" bIns="18288">
            <a:spAutoFit/>
          </a:bodyPr>
          <a:lstStyle/>
          <a:p>
            <a:pPr algn="l">
              <a:lnSpc>
                <a:spcPct val="110000"/>
              </a:lnSpc>
            </a:pPr>
            <a:r>
              <a:rPr sz="3400" b="1">
                <a:solidFill>
                  <a:srgbClr val="F2F5F3"/>
                </a:solidFill>
                <a:latin typeface="Segoe UI"/>
              </a:rPr>
              <a:t>References</a:t>
            </a:r>
          </a:p>
        </p:txBody>
      </p:sp>
      <p:sp>
        <p:nvSpPr>
          <p:cNvPr id="4" name="TextBox 3"/>
          <p:cNvSpPr txBox="1"/>
          <p:nvPr/>
        </p:nvSpPr>
        <p:spPr>
          <a:xfrm>
            <a:off x="640080" y="1737360"/>
            <a:ext cx="10881360" cy="4389120"/>
          </a:xfrm>
          <a:prstGeom prst="rect">
            <a:avLst/>
          </a:prstGeom>
          <a:noFill/>
        </p:spPr>
        <p:txBody>
          <a:bodyPr wrap="square">
            <a:spAutoFit/>
          </a:bodyPr>
          <a:lstStyle/>
          <a:p>
            <a:pPr>
              <a:lnSpc>
                <a:spcPct val="110000"/>
              </a:lnSpc>
              <a:spcAft>
                <a:spcPts val="1200"/>
              </a:spcAft>
            </a:pPr>
            <a:r>
              <a:rPr sz="1700">
                <a:solidFill>
                  <a:srgbClr val="3FAE6A"/>
                </a:solidFill>
                <a:latin typeface="Segoe UI"/>
              </a:rPr>
              <a:t>▪  </a:t>
            </a:r>
            <a:r>
              <a:rPr sz="1700" b="0">
                <a:solidFill>
                  <a:srgbClr val="F2F5F3"/>
                </a:solidFill>
                <a:latin typeface="Segoe UI"/>
              </a:rPr>
              <a:t>PDPC, Breach of the Protection Obligation by ChampionTutor Inc. (Private Limited), DP-2103-B7984, 14 Oct 2021</a:t>
            </a:r>
          </a:p>
          <a:p>
            <a:pPr>
              <a:lnSpc>
                <a:spcPct val="110000"/>
              </a:lnSpc>
              <a:spcAft>
                <a:spcPts val="1200"/>
              </a:spcAft>
            </a:pPr>
            <a:r>
              <a:rPr sz="1700">
                <a:solidFill>
                  <a:srgbClr val="3FAE6A"/>
                </a:solidFill>
                <a:latin typeface="Segoe UI"/>
              </a:rPr>
              <a:t>▪  </a:t>
            </a:r>
            <a:r>
              <a:rPr sz="1700" b="0">
                <a:solidFill>
                  <a:srgbClr val="F2F5F3"/>
                </a:solidFill>
                <a:latin typeface="Segoe UI"/>
              </a:rPr>
              <a:t>PDPC, Guide on Active Enforcement (revised 1 Oct 2022): financial penalties under PDPA s48J</a:t>
            </a:r>
          </a:p>
          <a:p>
            <a:pPr>
              <a:lnSpc>
                <a:spcPct val="110000"/>
              </a:lnSpc>
              <a:spcAft>
                <a:spcPts val="1200"/>
              </a:spcAft>
            </a:pPr>
            <a:r>
              <a:rPr sz="1700">
                <a:solidFill>
                  <a:srgbClr val="3FAE6A"/>
                </a:solidFill>
                <a:latin typeface="Segoe UI"/>
              </a:rPr>
              <a:t>▪  </a:t>
            </a:r>
            <a:r>
              <a:rPr sz="1700" b="0">
                <a:solidFill>
                  <a:srgbClr val="F2F5F3"/>
                </a:solidFill>
                <a:latin typeface="Segoe UI"/>
              </a:rPr>
              <a:t>Computer Misuse Act 1993 (2020 Rev. Ed.), sections 3, 5 and 7, Singapore Statutes Online</a:t>
            </a:r>
          </a:p>
          <a:p>
            <a:pPr>
              <a:lnSpc>
                <a:spcPct val="110000"/>
              </a:lnSpc>
              <a:spcAft>
                <a:spcPts val="1200"/>
              </a:spcAft>
            </a:pPr>
            <a:r>
              <a:rPr sz="1700">
                <a:solidFill>
                  <a:srgbClr val="3FAE6A"/>
                </a:solidFill>
                <a:latin typeface="Segoe UI"/>
              </a:rPr>
              <a:t>▪  </a:t>
            </a:r>
            <a:r>
              <a:rPr sz="1700" b="0">
                <a:solidFill>
                  <a:srgbClr val="F2F5F3"/>
                </a:solidFill>
                <a:latin typeface="Segoe UI"/>
              </a:rPr>
              <a:t>TypeSafe System One (Jev) documentation, docs.typesafe.ai</a:t>
            </a:r>
          </a:p>
          <a:p>
            <a:pPr>
              <a:lnSpc>
                <a:spcPct val="110000"/>
              </a:lnSpc>
              <a:spcAft>
                <a:spcPts val="1200"/>
              </a:spcAft>
            </a:pPr>
            <a:r>
              <a:rPr sz="1700">
                <a:solidFill>
                  <a:srgbClr val="3FAE6A"/>
                </a:solidFill>
                <a:latin typeface="Segoe UI"/>
              </a:rPr>
              <a:t>▪  </a:t>
            </a:r>
            <a:r>
              <a:rPr sz="1700" b="0">
                <a:solidFill>
                  <a:srgbClr val="F2F5F3"/>
                </a:solidFill>
                <a:latin typeface="Segoe UI"/>
              </a:rPr>
              <a:t>Code and plan: github.com/RexGuard/cactai  ·  rexguard.github.io/cactai</a:t>
            </a:r>
          </a:p>
        </p:txBody>
      </p:sp>
      <p:sp>
        <p:nvSpPr>
          <p:cNvPr id="5" name="TextBox 4"/>
          <p:cNvSpPr txBox="1"/>
          <p:nvPr/>
        </p:nvSpPr>
        <p:spPr>
          <a:xfrm>
            <a:off x="11155680" y="6355080"/>
            <a:ext cx="457200" cy="320040"/>
          </a:xfrm>
          <a:prstGeom prst="rect">
            <a:avLst/>
          </a:prstGeom>
          <a:noFill/>
        </p:spPr>
        <p:txBody>
          <a:bodyPr wrap="square" anchor="t" lIns="45720" rIns="45720" tIns="18288" bIns="18288">
            <a:spAutoFit/>
          </a:bodyPr>
          <a:lstStyle/>
          <a:p>
            <a:pPr algn="r">
              <a:lnSpc>
                <a:spcPct val="110000"/>
              </a:lnSpc>
            </a:pPr>
            <a:r>
              <a:rPr sz="1100" b="0">
                <a:solidFill>
                  <a:srgbClr val="A9BBAF"/>
                </a:solidFill>
                <a:latin typeface="Segoe UI"/>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